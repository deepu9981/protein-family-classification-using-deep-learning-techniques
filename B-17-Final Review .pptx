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75" r:id="rId7"/>
    <p:sldId id="309" r:id="rId8"/>
    <p:sldId id="261" r:id="rId9"/>
    <p:sldId id="263" r:id="rId10"/>
    <p:sldId id="310" r:id="rId11"/>
    <p:sldId id="264" r:id="rId12"/>
    <p:sldId id="299" r:id="rId13"/>
    <p:sldId id="300" r:id="rId14"/>
    <p:sldId id="317" r:id="rId15"/>
    <p:sldId id="318" r:id="rId16"/>
    <p:sldId id="314" r:id="rId17"/>
    <p:sldId id="316" r:id="rId18"/>
    <p:sldId id="301" r:id="rId19"/>
    <p:sldId id="305" r:id="rId20"/>
    <p:sldId id="306" r:id="rId21"/>
    <p:sldId id="307" r:id="rId22"/>
    <p:sldId id="311" r:id="rId23"/>
    <p:sldId id="312" r:id="rId24"/>
    <p:sldId id="304" r:id="rId25"/>
    <p:sldId id="303"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638B0B-01E7-4682-A2F7-1C404761EB17}" v="7" dt="2026-04-07T04:09:05.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44" d="100"/>
          <a:sy n="44" d="100"/>
        </p:scale>
        <p:origin x="77"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garaj Deepika" userId="59a2cafa0cebe276" providerId="LiveId" clId="{28073DE6-6A9A-4354-B02F-7216D7C7F946}"/>
    <pc:docChg chg="custSel modSld">
      <pc:chgData name="Rangaraj Deepika" userId="59a2cafa0cebe276" providerId="LiveId" clId="{28073DE6-6A9A-4354-B02F-7216D7C7F946}" dt="2026-04-07T17:33:50.341" v="60" actId="1038"/>
      <pc:docMkLst>
        <pc:docMk/>
      </pc:docMkLst>
      <pc:sldChg chg="modSp mod">
        <pc:chgData name="Rangaraj Deepika" userId="59a2cafa0cebe276" providerId="LiveId" clId="{28073DE6-6A9A-4354-B02F-7216D7C7F946}" dt="2026-04-07T17:27:52.681" v="58" actId="1037"/>
        <pc:sldMkLst>
          <pc:docMk/>
          <pc:sldMk cId="1796740438" sldId="299"/>
        </pc:sldMkLst>
        <pc:picChg chg="mod">
          <ac:chgData name="Rangaraj Deepika" userId="59a2cafa0cebe276" providerId="LiveId" clId="{28073DE6-6A9A-4354-B02F-7216D7C7F946}" dt="2026-04-07T17:27:52.681" v="58" actId="1037"/>
          <ac:picMkLst>
            <pc:docMk/>
            <pc:sldMk cId="1796740438" sldId="299"/>
            <ac:picMk id="11" creationId="{BB155F1D-D26D-8423-1B74-637BAD7BFCBE}"/>
          </ac:picMkLst>
        </pc:picChg>
      </pc:sldChg>
      <pc:sldChg chg="modSp mod">
        <pc:chgData name="Rangaraj Deepika" userId="59a2cafa0cebe276" providerId="LiveId" clId="{28073DE6-6A9A-4354-B02F-7216D7C7F946}" dt="2026-04-07T17:33:50.341" v="60" actId="1038"/>
        <pc:sldMkLst>
          <pc:docMk/>
          <pc:sldMk cId="1842683851" sldId="307"/>
        </pc:sldMkLst>
        <pc:picChg chg="mod">
          <ac:chgData name="Rangaraj Deepika" userId="59a2cafa0cebe276" providerId="LiveId" clId="{28073DE6-6A9A-4354-B02F-7216D7C7F946}" dt="2026-04-07T17:33:50.341" v="60" actId="1038"/>
          <ac:picMkLst>
            <pc:docMk/>
            <pc:sldMk cId="1842683851" sldId="307"/>
            <ac:picMk id="3" creationId="{0873D961-8751-CEBC-2544-B75371D409E5}"/>
          </ac:picMkLst>
        </pc:picChg>
      </pc:sldChg>
      <pc:sldChg chg="modSp mod">
        <pc:chgData name="Rangaraj Deepika" userId="59a2cafa0cebe276" providerId="LiveId" clId="{28073DE6-6A9A-4354-B02F-7216D7C7F946}" dt="2026-04-07T04:08:43.428" v="47" actId="113"/>
        <pc:sldMkLst>
          <pc:docMk/>
          <pc:sldMk cId="60630558" sldId="317"/>
        </pc:sldMkLst>
        <pc:spChg chg="mod">
          <ac:chgData name="Rangaraj Deepika" userId="59a2cafa0cebe276" providerId="LiveId" clId="{28073DE6-6A9A-4354-B02F-7216D7C7F946}" dt="2026-04-07T04:08:43.428" v="47" actId="113"/>
          <ac:spMkLst>
            <pc:docMk/>
            <pc:sldMk cId="60630558" sldId="317"/>
            <ac:spMk id="3" creationId="{D9422717-F75E-C764-14DB-E4991CABF81D}"/>
          </ac:spMkLst>
        </pc:spChg>
      </pc:sldChg>
      <pc:sldChg chg="modSp mod">
        <pc:chgData name="Rangaraj Deepika" userId="59a2cafa0cebe276" providerId="LiveId" clId="{28073DE6-6A9A-4354-B02F-7216D7C7F946}" dt="2026-04-07T04:09:09.717" v="54" actId="113"/>
        <pc:sldMkLst>
          <pc:docMk/>
          <pc:sldMk cId="336857636" sldId="318"/>
        </pc:sldMkLst>
        <pc:spChg chg="mod">
          <ac:chgData name="Rangaraj Deepika" userId="59a2cafa0cebe276" providerId="LiveId" clId="{28073DE6-6A9A-4354-B02F-7216D7C7F946}" dt="2026-04-07T04:09:09.717" v="54" actId="113"/>
          <ac:spMkLst>
            <pc:docMk/>
            <pc:sldMk cId="336857636" sldId="318"/>
            <ac:spMk id="3" creationId="{29CFF414-2EE2-26D4-5784-0B7A8238E8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6DE001-9C3A-4A86-B724-7FE52CC46DCA}"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125B9-1741-49FA-9ACB-F8DD5973AEB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125B9-1741-49FA-9ACB-F8DD5973AEB2}" type="slidenum">
              <a:rPr lang="en-IN" smtClean="0"/>
              <a:t>1</a:t>
            </a:fld>
            <a:endParaRPr lang="en-IN"/>
          </a:p>
        </p:txBody>
      </p:sp>
    </p:spTree>
    <p:extLst>
      <p:ext uri="{BB962C8B-B14F-4D97-AF65-F5344CB8AC3E}">
        <p14:creationId xmlns:p14="http://schemas.microsoft.com/office/powerpoint/2010/main" val="3163280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125B9-1741-49FA-9ACB-F8DD5973AEB2}" type="slidenum">
              <a:rPr lang="en-IN" smtClean="0"/>
              <a:t>3</a:t>
            </a:fld>
            <a:endParaRPr lang="en-IN"/>
          </a:p>
        </p:txBody>
      </p:sp>
    </p:spTree>
    <p:extLst>
      <p:ext uri="{BB962C8B-B14F-4D97-AF65-F5344CB8AC3E}">
        <p14:creationId xmlns:p14="http://schemas.microsoft.com/office/powerpoint/2010/main" val="781748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125B9-1741-49FA-9ACB-F8DD5973AEB2}" type="slidenum">
              <a:rPr lang="en-IN" smtClean="0"/>
              <a:t>4</a:t>
            </a:fld>
            <a:endParaRPr lang="en-IN"/>
          </a:p>
        </p:txBody>
      </p:sp>
    </p:spTree>
    <p:extLst>
      <p:ext uri="{BB962C8B-B14F-4D97-AF65-F5344CB8AC3E}">
        <p14:creationId xmlns:p14="http://schemas.microsoft.com/office/powerpoint/2010/main" val="1147438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125B9-1741-49FA-9ACB-F8DD5973AEB2}" type="slidenum">
              <a:rPr lang="en-IN" smtClean="0"/>
              <a:t>25</a:t>
            </a:fld>
            <a:endParaRPr lang="en-IN"/>
          </a:p>
        </p:txBody>
      </p:sp>
    </p:spTree>
    <p:extLst>
      <p:ext uri="{BB962C8B-B14F-4D97-AF65-F5344CB8AC3E}">
        <p14:creationId xmlns:p14="http://schemas.microsoft.com/office/powerpoint/2010/main" val="967647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0470CBA-CCBB-46C9-A30A-8D9DE7234AC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0470CBA-CCBB-46C9-A30A-8D9DE7234AC0}"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470CBA-CCBB-46C9-A30A-8D9DE7234AC0}"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470CBA-CCBB-46C9-A30A-8D9DE7234AC0}"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470CBA-CCBB-46C9-A30A-8D9DE7234AC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470CBA-CCBB-46C9-A30A-8D9DE7234AC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470CBA-CCBB-46C9-A30A-8D9DE7234AC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173716-5365-4DF3-B97A-CB0DA621D94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470CBA-CCBB-46C9-A30A-8D9DE7234AC0}" type="datetimeFigureOut">
              <a:rPr lang="en-IN" smtClean="0"/>
              <a:t>07-04-2026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173716-5365-4DF3-B97A-CB0DA621D94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oogle Shape;84;p13">
            <a:extLst>
              <a:ext uri="{FF2B5EF4-FFF2-40B4-BE49-F238E27FC236}">
                <a16:creationId xmlns:a16="http://schemas.microsoft.com/office/drawing/2014/main" id="{01E35056-9D20-BD04-05DD-EBF7B638D066}"/>
              </a:ext>
            </a:extLst>
          </p:cNvPr>
          <p:cNvGraphicFramePr/>
          <p:nvPr>
            <p:extLst>
              <p:ext uri="{D42A27DB-BD31-4B8C-83A1-F6EECF244321}">
                <p14:modId xmlns:p14="http://schemas.microsoft.com/office/powerpoint/2010/main" val="2188095227"/>
              </p:ext>
            </p:extLst>
          </p:nvPr>
        </p:nvGraphicFramePr>
        <p:xfrm>
          <a:off x="1659467" y="1029345"/>
          <a:ext cx="9008533" cy="1227455"/>
        </p:xfrm>
        <a:graphic>
          <a:graphicData uri="http://schemas.openxmlformats.org/drawingml/2006/table">
            <a:tbl>
              <a:tblPr>
                <a:noFill/>
              </a:tblPr>
              <a:tblGrid>
                <a:gridCol w="1745403">
                  <a:extLst>
                    <a:ext uri="{9D8B030D-6E8A-4147-A177-3AD203B41FA5}">
                      <a16:colId xmlns:a16="http://schemas.microsoft.com/office/drawing/2014/main" val="20000"/>
                    </a:ext>
                  </a:extLst>
                </a:gridCol>
                <a:gridCol w="7263130">
                  <a:extLst>
                    <a:ext uri="{9D8B030D-6E8A-4147-A177-3AD203B41FA5}">
                      <a16:colId xmlns:a16="http://schemas.microsoft.com/office/drawing/2014/main" val="20001"/>
                    </a:ext>
                  </a:extLst>
                </a:gridCol>
              </a:tblGrid>
              <a:tr h="1099196">
                <a:tc>
                  <a:txBody>
                    <a:bodyPr/>
                    <a:lstStyle/>
                    <a:p>
                      <a:pPr marL="0" marR="0" lvl="0" indent="0" algn="l" rtl="0">
                        <a:spcBef>
                          <a:spcPts val="0"/>
                        </a:spcBef>
                        <a:spcAft>
                          <a:spcPts val="0"/>
                        </a:spcAft>
                        <a:buNone/>
                      </a:pPr>
                      <a:endParaRPr lang="en-IN" sz="1800" dirty="0">
                        <a:solidFill>
                          <a:schemeClr val="dk1"/>
                        </a:solidFill>
                        <a:latin typeface="Arial"/>
                        <a:ea typeface="Arial"/>
                        <a:cs typeface="Arial"/>
                        <a:sym typeface="Arial"/>
                      </a:endParaRPr>
                    </a:p>
                  </a:txBody>
                  <a:tcPr marL="65400" marR="654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300"/>
                        <a:buFont typeface="Arial Black"/>
                        <a:buNone/>
                      </a:pPr>
                      <a:endParaRPr lang="en-US" sz="1300" b="1" i="0" u="none" dirty="0">
                        <a:solidFill>
                          <a:srgbClr val="000000"/>
                        </a:solidFill>
                        <a:latin typeface="Arial Black"/>
                        <a:ea typeface="Arial Black"/>
                        <a:cs typeface="Arial Black"/>
                        <a:sym typeface="Arial Black"/>
                      </a:endParaRPr>
                    </a:p>
                    <a:p>
                      <a:pPr marL="0" marR="0" lvl="0" indent="0" algn="ctr" rtl="0">
                        <a:lnSpc>
                          <a:spcPct val="115000"/>
                        </a:lnSpc>
                        <a:spcBef>
                          <a:spcPts val="0"/>
                        </a:spcBef>
                        <a:spcAft>
                          <a:spcPts val="0"/>
                        </a:spcAft>
                        <a:buClr>
                          <a:srgbClr val="000000"/>
                        </a:buClr>
                        <a:buSzPts val="1300"/>
                        <a:buFont typeface="Arial Black"/>
                        <a:buNone/>
                      </a:pPr>
                      <a:r>
                        <a:rPr lang="en-US" sz="2200" b="1" i="0" u="none" dirty="0">
                          <a:solidFill>
                            <a:srgbClr val="000000"/>
                          </a:solidFill>
                          <a:latin typeface="Times New Roman" panose="02020603050405020304" pitchFamily="18" charset="0"/>
                          <a:ea typeface="Arial Black"/>
                          <a:cs typeface="Times New Roman" panose="02020603050405020304" pitchFamily="18" charset="0"/>
                          <a:sym typeface="Arial Black"/>
                        </a:rPr>
                        <a:t>MALLA REDDY COLLEGE OF ENGINEERING</a:t>
                      </a:r>
                      <a:r>
                        <a:rPr lang="en-US" sz="1300" b="1" i="0" u="none" dirty="0">
                          <a:solidFill>
                            <a:srgbClr val="000000"/>
                          </a:solidFill>
                          <a:latin typeface="Times New Roman" panose="02020603050405020304" pitchFamily="18" charset="0"/>
                          <a:ea typeface="Arial Black"/>
                          <a:cs typeface="Times New Roman" panose="02020603050405020304" pitchFamily="18" charset="0"/>
                          <a:sym typeface="Arial Black"/>
                        </a:rPr>
                        <a:t> </a:t>
                      </a:r>
                      <a:endParaRPr lang="en-US" sz="1000" b="0" i="0" u="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15000"/>
                        </a:lnSpc>
                        <a:spcBef>
                          <a:spcPts val="0"/>
                        </a:spcBef>
                        <a:spcAft>
                          <a:spcPts val="0"/>
                        </a:spcAft>
                        <a:buClr>
                          <a:srgbClr val="002060"/>
                        </a:buClr>
                        <a:buSzPts val="1000"/>
                        <a:buFont typeface="Times New Roman"/>
                        <a:buNone/>
                      </a:pPr>
                      <a:r>
                        <a:rPr lang="en-US" sz="1200" b="0" i="0" u="none" dirty="0">
                          <a:solidFill>
                            <a:srgbClr val="002060"/>
                          </a:solidFill>
                          <a:latin typeface="Times New Roman" panose="02020603050405020304" pitchFamily="18" charset="0"/>
                          <a:ea typeface="Times New Roman"/>
                          <a:cs typeface="Times New Roman" panose="02020603050405020304" pitchFamily="18" charset="0"/>
                          <a:sym typeface="Times New Roman"/>
                        </a:rPr>
                        <a:t>(Approved by AICTE, Permanently Affiliated to JNTUH)</a:t>
                      </a:r>
                      <a:endParaRPr lang="en-US" sz="1200" b="0" i="0" u="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15000"/>
                        </a:lnSpc>
                        <a:spcBef>
                          <a:spcPts val="0"/>
                        </a:spcBef>
                        <a:spcAft>
                          <a:spcPts val="0"/>
                        </a:spcAft>
                        <a:buClr>
                          <a:schemeClr val="dk1"/>
                        </a:buClr>
                        <a:buSzPts val="1000"/>
                        <a:buFont typeface="Times New Roman"/>
                        <a:buNone/>
                      </a:pPr>
                      <a:r>
                        <a:rPr lang="en-US" sz="1200" b="0" i="0" u="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Recognised</a:t>
                      </a:r>
                      <a:r>
                        <a:rPr lang="en-US"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under Section 2(f) &amp; 12(B) of the UGC Act 1956, An ISO 9001:2015 Certified Institution.</a:t>
                      </a:r>
                      <a:endParaRPr lang="en-US" sz="1200" b="0" i="0" u="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15000"/>
                        </a:lnSpc>
                        <a:spcBef>
                          <a:spcPts val="0"/>
                        </a:spcBef>
                        <a:spcAft>
                          <a:spcPts val="0"/>
                        </a:spcAft>
                        <a:buClr>
                          <a:schemeClr val="dk1"/>
                        </a:buClr>
                        <a:buSzPts val="1000"/>
                        <a:buFont typeface="Times New Roman"/>
                        <a:buNone/>
                      </a:pPr>
                      <a:r>
                        <a:rPr lang="en-US" sz="1200" b="0" i="0" u="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Maisammaguda</a:t>
                      </a:r>
                      <a:r>
                        <a:rPr lang="en-US"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1200" b="0" i="0" u="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Dhulapally</a:t>
                      </a:r>
                      <a:r>
                        <a:rPr lang="en-US"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post via </a:t>
                      </a:r>
                      <a:r>
                        <a:rPr lang="en-US" sz="1200" b="0" i="0" u="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Kompally</a:t>
                      </a:r>
                      <a:r>
                        <a:rPr lang="en-US"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en-US" sz="1200" b="0" i="0" u="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Secunderabad</a:t>
                      </a:r>
                      <a:r>
                        <a:rPr lang="en-US"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 500100</a:t>
                      </a:r>
                      <a:endParaRPr lang="en-US" sz="1200" dirty="0">
                        <a:latin typeface="Times New Roman" panose="02020603050405020304" pitchFamily="18" charset="0"/>
                        <a:cs typeface="Times New Roman" panose="02020603050405020304" pitchFamily="18" charset="0"/>
                      </a:endParaRPr>
                    </a:p>
                  </a:txBody>
                  <a:tcPr marL="65400" marR="6540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1" name="Google Shape;85;p13">
            <a:extLst>
              <a:ext uri="{FF2B5EF4-FFF2-40B4-BE49-F238E27FC236}">
                <a16:creationId xmlns:a16="http://schemas.microsoft.com/office/drawing/2014/main" id="{CDA952D9-B164-2ABF-49B6-33D72E6AA060}"/>
              </a:ext>
            </a:extLst>
          </p:cNvPr>
          <p:cNvPicPr preferRelativeResize="0"/>
          <p:nvPr/>
        </p:nvPicPr>
        <p:blipFill rotWithShape="1">
          <a:blip r:embed="rId3">
            <a:alphaModFix/>
          </a:blip>
          <a:srcRect/>
          <a:stretch/>
        </p:blipFill>
        <p:spPr>
          <a:xfrm>
            <a:off x="1786467" y="1095284"/>
            <a:ext cx="1515533" cy="1099195"/>
          </a:xfrm>
          <a:prstGeom prst="rect">
            <a:avLst/>
          </a:prstGeom>
          <a:noFill/>
          <a:ln>
            <a:noFill/>
          </a:ln>
        </p:spPr>
      </p:pic>
      <p:sp>
        <p:nvSpPr>
          <p:cNvPr id="12" name="Subtitle 2">
            <a:extLst>
              <a:ext uri="{FF2B5EF4-FFF2-40B4-BE49-F238E27FC236}">
                <a16:creationId xmlns:a16="http://schemas.microsoft.com/office/drawing/2014/main" id="{6BCBD58E-33CF-8347-EFA6-D0036F058A55}"/>
              </a:ext>
            </a:extLst>
          </p:cNvPr>
          <p:cNvSpPr txBox="1">
            <a:spLocks/>
          </p:cNvSpPr>
          <p:nvPr/>
        </p:nvSpPr>
        <p:spPr>
          <a:xfrm>
            <a:off x="1524000" y="2585493"/>
            <a:ext cx="9144000" cy="3595174"/>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b="1" u="sng" dirty="0">
                <a:latin typeface="Arial" panose="020B0604020202020204" pitchFamily="34" charset="0"/>
                <a:cs typeface="Arial" panose="020B0604020202020204" pitchFamily="34" charset="0"/>
              </a:rPr>
              <a:t>DEPARTMENT OF CSE-DS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MAJOR PROJECT  STAGE-2 REVIEW  </a:t>
            </a:r>
          </a:p>
          <a:p>
            <a:endParaRPr lang="en-IN" dirty="0">
              <a:solidFill>
                <a:srgbClr val="FF0000"/>
              </a:solidFill>
              <a:latin typeface="Times New Roman" panose="02020603050405020304" pitchFamily="18" charset="0"/>
              <a:cs typeface="Times New Roman" panose="02020603050405020304" pitchFamily="18" charset="0"/>
            </a:endParaRP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ACADEMIC YEAR : 2025 – 2026</a:t>
            </a:r>
          </a:p>
          <a:p>
            <a:r>
              <a:rPr lang="en-IN" b="1" dirty="0">
                <a:solidFill>
                  <a:schemeClr val="tx1">
                    <a:lumMod val="95000"/>
                    <a:lumOff val="5000"/>
                  </a:schemeClr>
                </a:solidFill>
                <a:latin typeface="Times New Roman" panose="02020603050405020304" pitchFamily="18" charset="0"/>
                <a:cs typeface="Times New Roman" panose="02020603050405020304" pitchFamily="18" charset="0"/>
              </a:rPr>
              <a:t>YEAR : IV  SEM : II</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DATE : 08/04/2026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0429" y="325796"/>
            <a:ext cx="9751142" cy="1345688"/>
          </a:xfrm>
        </p:spPr>
        <p:txBody>
          <a:bodyPr>
            <a:normAutofit/>
          </a:bodyPr>
          <a:lstStyle/>
          <a:p>
            <a:pPr algn="ctr"/>
            <a:r>
              <a:rPr lang="en-US" sz="3200" b="1" dirty="0">
                <a:latin typeface="Times New Roman" panose="02020603050405020304" pitchFamily="18" charset="0"/>
                <a:cs typeface="Times New Roman" panose="02020603050405020304" pitchFamily="18" charset="0"/>
              </a:rPr>
              <a:t>Protein</a:t>
            </a:r>
            <a:r>
              <a:rPr lang="en-US" sz="3200" b="1" spc="-95"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Family</a:t>
            </a:r>
            <a:r>
              <a:rPr lang="en-US" sz="3200" b="1" spc="-9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Classification</a:t>
            </a:r>
            <a:r>
              <a:rPr lang="en-US" sz="3200" b="1" spc="-9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using</a:t>
            </a:r>
            <a:r>
              <a:rPr lang="en-US" sz="3200" b="1" spc="-9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Deep</a:t>
            </a:r>
            <a:r>
              <a:rPr lang="en-US" sz="3200" b="1" spc="-9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Learning</a:t>
            </a:r>
            <a:r>
              <a:rPr lang="en-US" sz="3200" b="1" spc="-90" dirty="0">
                <a:latin typeface="Times New Roman" panose="02020603050405020304" pitchFamily="18" charset="0"/>
                <a:cs typeface="Times New Roman" panose="02020603050405020304" pitchFamily="18" charset="0"/>
              </a:rPr>
              <a:t> </a:t>
            </a:r>
            <a:r>
              <a:rPr lang="en-US" sz="3200" b="1" spc="-10" dirty="0">
                <a:latin typeface="Times New Roman" panose="02020603050405020304" pitchFamily="18" charset="0"/>
                <a:cs typeface="Times New Roman" panose="02020603050405020304" pitchFamily="18" charset="0"/>
              </a:rPr>
              <a:t>Techniques</a:t>
            </a:r>
            <a:endParaRPr lang="en-IN" sz="31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3000" y="2013512"/>
            <a:ext cx="9905999" cy="4389057"/>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TEAM  MEMBERS</a:t>
            </a:r>
          </a:p>
          <a:p>
            <a:pPr marL="0" indent="0">
              <a:buNone/>
            </a:pPr>
            <a:r>
              <a:rPr lang="en-IN" sz="3200" b="1" dirty="0"/>
              <a:t>         </a:t>
            </a:r>
            <a:r>
              <a:rPr lang="en-IN" dirty="0"/>
              <a:t>                 </a:t>
            </a:r>
            <a:r>
              <a:rPr lang="en-IN" sz="2000" dirty="0">
                <a:latin typeface="Times New Roman" panose="02020603050405020304" pitchFamily="18" charset="0"/>
                <a:cs typeface="Times New Roman" panose="02020603050405020304" pitchFamily="18" charset="0"/>
              </a:rPr>
              <a:t>P.MAHIDAR REDDY                -   22Q91A67G8</a:t>
            </a:r>
          </a:p>
          <a:p>
            <a:pPr marL="0" indent="0">
              <a:lnSpc>
                <a:spcPct val="100000"/>
              </a:lnSpc>
              <a:buNone/>
            </a:pPr>
            <a:r>
              <a:rPr lang="en-IN" sz="2000" dirty="0">
                <a:latin typeface="Times New Roman" panose="02020603050405020304" pitchFamily="18" charset="0"/>
                <a:cs typeface="Times New Roman" panose="02020603050405020304" pitchFamily="18" charset="0"/>
              </a:rPr>
              <a:t>                                   R.DEEPIKA                                -   22Q91A67H3</a:t>
            </a:r>
          </a:p>
          <a:p>
            <a:pPr marL="0" indent="0">
              <a:lnSpc>
                <a:spcPct val="100000"/>
              </a:lnSpc>
              <a:buNone/>
            </a:pPr>
            <a:r>
              <a:rPr lang="en-IN" sz="2000" dirty="0">
                <a:latin typeface="Times New Roman" panose="02020603050405020304" pitchFamily="18" charset="0"/>
                <a:cs typeface="Times New Roman" panose="02020603050405020304" pitchFamily="18" charset="0"/>
              </a:rPr>
              <a:t>                                   SHAIK SAIFUDDIN                  -   22Q91A67I0</a:t>
            </a:r>
          </a:p>
          <a:p>
            <a:pPr marL="0" indent="0">
              <a:lnSpc>
                <a:spcPct val="100000"/>
              </a:lnSpc>
              <a:buNone/>
            </a:pPr>
            <a:r>
              <a:rPr lang="en-IN" sz="2000" dirty="0">
                <a:latin typeface="Times New Roman" panose="02020603050405020304" pitchFamily="18" charset="0"/>
                <a:cs typeface="Times New Roman" panose="02020603050405020304" pitchFamily="18" charset="0"/>
              </a:rPr>
              <a:t>						         </a:t>
            </a:r>
          </a:p>
          <a:p>
            <a:pPr marL="0" indent="0">
              <a:lnSpc>
                <a:spcPct val="100000"/>
              </a:lnSpc>
              <a:buNone/>
            </a:pP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IN" sz="2000" dirty="0">
                <a:latin typeface="Times New Roman" panose="02020603050405020304" pitchFamily="18" charset="0"/>
                <a:cs typeface="Times New Roman" panose="02020603050405020304" pitchFamily="18" charset="0"/>
              </a:rPr>
              <a:t>                                                                                                     Under the Guidance of</a:t>
            </a:r>
          </a:p>
          <a:p>
            <a:pPr marL="0" indent="0">
              <a:lnSpc>
                <a:spcPct val="100000"/>
              </a:lnSpc>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MRS.BHAGYA LAKSHMI</a:t>
            </a:r>
          </a:p>
          <a:p>
            <a:pPr marL="0" indent="0">
              <a:lnSpc>
                <a:spcPct val="100000"/>
              </a:lnSpc>
              <a:buNone/>
            </a:pPr>
            <a:r>
              <a:rPr lang="en-IN" sz="2000" dirty="0">
                <a:latin typeface="Times New Roman" panose="02020603050405020304" pitchFamily="18" charset="0"/>
                <a:cs typeface="Times New Roman" panose="02020603050405020304" pitchFamily="18" charset="0"/>
              </a:rPr>
              <a:t>                                                                                                  Assistant Professor-CSE-DS   </a:t>
            </a:r>
            <a:r>
              <a:rPr lang="en-IN" dirty="0">
                <a:latin typeface="Times New Roman" panose="02020603050405020304" pitchFamily="18" charset="0"/>
                <a:cs typeface="Times New Roman" panose="02020603050405020304" pitchFamily="18" charset="0"/>
              </a:rPr>
              <a:t>                                                 </a:t>
            </a:r>
          </a:p>
          <a:p>
            <a:pPr marL="0" indent="0">
              <a:lnSpc>
                <a:spcPct val="100000"/>
              </a:lnSpc>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05563"/>
            <a:ext cx="9905998" cy="787495"/>
          </a:xfrm>
        </p:spPr>
        <p:txBody>
          <a:bodyPr/>
          <a:lstStyle/>
          <a:p>
            <a:r>
              <a:rPr lang="en-IN" dirty="0"/>
              <a:t>                           </a:t>
            </a:r>
            <a:r>
              <a:rPr lang="en-IN" sz="2800" b="1" dirty="0">
                <a:latin typeface="Times New Roman" panose="02020603050405020304" pitchFamily="18" charset="0"/>
                <a:cs typeface="Times New Roman" panose="02020603050405020304" pitchFamily="18" charset="0"/>
              </a:rPr>
              <a:t>CONTENTS</a:t>
            </a:r>
            <a:r>
              <a:rPr lang="en-IN" sz="3200" b="1" dirty="0"/>
              <a:t> </a:t>
            </a:r>
          </a:p>
        </p:txBody>
      </p:sp>
      <p:sp>
        <p:nvSpPr>
          <p:cNvPr id="3" name="Content Placeholder 2"/>
          <p:cNvSpPr>
            <a:spLocks noGrp="1"/>
          </p:cNvSpPr>
          <p:nvPr>
            <p:ph idx="1"/>
          </p:nvPr>
        </p:nvSpPr>
        <p:spPr>
          <a:xfrm>
            <a:off x="983227" y="1081547"/>
            <a:ext cx="11327632" cy="5648633"/>
          </a:xfrm>
        </p:spPr>
        <p:txBody>
          <a:bodyPr>
            <a:normAutofit fontScale="85000" lnSpcReduction="20000"/>
          </a:bodyPr>
          <a:lstStyle/>
          <a:p>
            <a:r>
              <a:rPr lang="en-IN" sz="2000" dirty="0">
                <a:latin typeface="Times New Roman" panose="02020603050405020304" pitchFamily="18" charset="0"/>
                <a:cs typeface="Times New Roman" panose="02020603050405020304" pitchFamily="18" charset="0"/>
              </a:rPr>
              <a:t>ABSTRACT</a:t>
            </a:r>
          </a:p>
          <a:p>
            <a:pPr>
              <a:lnSpc>
                <a:spcPct val="100000"/>
              </a:lnSpc>
            </a:pPr>
            <a:r>
              <a:rPr lang="en-IN" sz="2000" dirty="0">
                <a:latin typeface="Times New Roman" panose="02020603050405020304" pitchFamily="18" charset="0"/>
                <a:cs typeface="Times New Roman" panose="02020603050405020304" pitchFamily="18" charset="0"/>
              </a:rPr>
              <a:t>INTRODUCTION</a:t>
            </a:r>
          </a:p>
          <a:p>
            <a:pPr>
              <a:lnSpc>
                <a:spcPct val="100000"/>
              </a:lnSpc>
            </a:pPr>
            <a:r>
              <a:rPr lang="en-IN" sz="2000" dirty="0">
                <a:latin typeface="Times New Roman" panose="02020603050405020304" pitchFamily="18" charset="0"/>
                <a:cs typeface="Times New Roman" panose="02020603050405020304" pitchFamily="18" charset="0"/>
              </a:rPr>
              <a:t>LITERATURE  SURVEY</a:t>
            </a:r>
          </a:p>
          <a:p>
            <a:pPr>
              <a:lnSpc>
                <a:spcPct val="100000"/>
              </a:lnSpc>
            </a:pPr>
            <a:r>
              <a:rPr lang="en-IN" sz="2000" dirty="0">
                <a:latin typeface="Times New Roman" panose="02020603050405020304" pitchFamily="18" charset="0"/>
                <a:cs typeface="Times New Roman" panose="02020603050405020304" pitchFamily="18" charset="0"/>
              </a:rPr>
              <a:t>PROBLEM STATEMENT/OBJECTIVE</a:t>
            </a:r>
          </a:p>
          <a:p>
            <a:pPr>
              <a:lnSpc>
                <a:spcPct val="100000"/>
              </a:lnSpc>
            </a:pPr>
            <a:r>
              <a:rPr lang="en-IN" sz="2000" dirty="0">
                <a:latin typeface="Times New Roman" panose="02020603050405020304" pitchFamily="18" charset="0"/>
                <a:cs typeface="Times New Roman" panose="02020603050405020304" pitchFamily="18" charset="0"/>
              </a:rPr>
              <a:t>EXISTING SYSTEM</a:t>
            </a:r>
          </a:p>
          <a:p>
            <a:pPr>
              <a:lnSpc>
                <a:spcPct val="100000"/>
              </a:lnSpc>
            </a:pPr>
            <a:r>
              <a:rPr lang="en-IN" sz="2000" dirty="0">
                <a:latin typeface="Times New Roman" panose="02020603050405020304" pitchFamily="18" charset="0"/>
                <a:cs typeface="Times New Roman" panose="02020603050405020304" pitchFamily="18" charset="0"/>
              </a:rPr>
              <a:t>PROPOSED SYSTEM</a:t>
            </a:r>
          </a:p>
          <a:p>
            <a:pPr>
              <a:lnSpc>
                <a:spcPct val="100000"/>
              </a:lnSpc>
            </a:pPr>
            <a:r>
              <a:rPr lang="en-IN" sz="2000" dirty="0">
                <a:latin typeface="Times New Roman" panose="02020603050405020304" pitchFamily="18" charset="0"/>
                <a:cs typeface="Times New Roman" panose="02020603050405020304" pitchFamily="18" charset="0"/>
              </a:rPr>
              <a:t>FEASABILITY STUDY</a:t>
            </a:r>
          </a:p>
          <a:p>
            <a:pPr>
              <a:lnSpc>
                <a:spcPct val="100000"/>
              </a:lnSpc>
            </a:pPr>
            <a:r>
              <a:rPr lang="en-IN" sz="2000" dirty="0">
                <a:latin typeface="Times New Roman" panose="02020603050405020304" pitchFamily="18" charset="0"/>
                <a:cs typeface="Times New Roman" panose="02020603050405020304" pitchFamily="18" charset="0"/>
              </a:rPr>
              <a:t>HARDWARE REQUIREMENTS AND SOFTWARE REQUIREMENTS</a:t>
            </a:r>
          </a:p>
          <a:p>
            <a:pPr>
              <a:lnSpc>
                <a:spcPct val="100000"/>
              </a:lnSpc>
            </a:pPr>
            <a:r>
              <a:rPr lang="en-IN" sz="2000" dirty="0">
                <a:latin typeface="Times New Roman" panose="02020603050405020304" pitchFamily="18" charset="0"/>
                <a:cs typeface="Times New Roman" panose="02020603050405020304" pitchFamily="18" charset="0"/>
              </a:rPr>
              <a:t>SYSTEM ARCHITECTURE/DESIGN</a:t>
            </a:r>
          </a:p>
          <a:p>
            <a:pPr>
              <a:lnSpc>
                <a:spcPct val="100000"/>
              </a:lnSpc>
            </a:pPr>
            <a:r>
              <a:rPr lang="en-IN" sz="2000" dirty="0">
                <a:latin typeface="Times New Roman" panose="02020603050405020304" pitchFamily="18" charset="0"/>
                <a:cs typeface="Times New Roman" panose="02020603050405020304" pitchFamily="18" charset="0"/>
              </a:rPr>
              <a:t>MODULES USED</a:t>
            </a:r>
          </a:p>
          <a:p>
            <a:pPr>
              <a:lnSpc>
                <a:spcPct val="100000"/>
              </a:lnSpc>
            </a:pPr>
            <a:r>
              <a:rPr lang="en-IN" sz="2000" dirty="0">
                <a:latin typeface="Times New Roman" panose="02020603050405020304" pitchFamily="18" charset="0"/>
                <a:cs typeface="Times New Roman" panose="02020603050405020304" pitchFamily="18" charset="0"/>
              </a:rPr>
              <a:t>IMPLEMENTATION</a:t>
            </a:r>
          </a:p>
          <a:p>
            <a:pPr>
              <a:lnSpc>
                <a:spcPct val="100000"/>
              </a:lnSpc>
            </a:pPr>
            <a:r>
              <a:rPr lang="en-IN" sz="2000" dirty="0">
                <a:latin typeface="Times New Roman" panose="02020603050405020304" pitchFamily="18" charset="0"/>
                <a:cs typeface="Times New Roman" panose="02020603050405020304" pitchFamily="18" charset="0"/>
              </a:rPr>
              <a:t>TEST CASES</a:t>
            </a:r>
          </a:p>
          <a:p>
            <a:pPr>
              <a:lnSpc>
                <a:spcPct val="100000"/>
              </a:lnSpc>
            </a:pPr>
            <a:r>
              <a:rPr lang="en-IN" sz="2000" dirty="0">
                <a:latin typeface="Times New Roman" panose="02020603050405020304" pitchFamily="18" charset="0"/>
                <a:cs typeface="Times New Roman" panose="02020603050405020304" pitchFamily="18" charset="0"/>
              </a:rPr>
              <a:t>SCREENSHOTS/RESULT</a:t>
            </a:r>
          </a:p>
          <a:p>
            <a:pPr>
              <a:lnSpc>
                <a:spcPct val="100000"/>
              </a:lnSpc>
            </a:pPr>
            <a:r>
              <a:rPr lang="en-IN" sz="2000" dirty="0">
                <a:latin typeface="Times New Roman" panose="02020603050405020304" pitchFamily="18" charset="0"/>
                <a:cs typeface="Times New Roman" panose="02020603050405020304" pitchFamily="18" charset="0"/>
              </a:rPr>
              <a:t>CONCLUSION</a:t>
            </a:r>
          </a:p>
          <a:p>
            <a:pPr>
              <a:lnSpc>
                <a:spcPct val="100000"/>
              </a:lnSpc>
            </a:pPr>
            <a:r>
              <a:rPr lang="en-IN" sz="2000" dirty="0">
                <a:latin typeface="Times New Roman" panose="02020603050405020304" pitchFamily="18" charset="0"/>
                <a:cs typeface="Times New Roman" panose="02020603050405020304" pitchFamily="18" charset="0"/>
              </a:rPr>
              <a:t>FUTURE ENHANCEMENT</a:t>
            </a:r>
          </a:p>
          <a:p>
            <a:pPr>
              <a:lnSpc>
                <a:spcPct val="100000"/>
              </a:lnSpc>
            </a:pPr>
            <a:r>
              <a:rPr lang="en-IN" sz="2000" dirty="0">
                <a:latin typeface="Times New Roman" panose="02020603050405020304" pitchFamily="18" charset="0"/>
                <a:cs typeface="Times New Roman" panose="02020603050405020304" pitchFamily="18" charset="0"/>
              </a:rPr>
              <a:t>REFERENCES</a:t>
            </a:r>
          </a:p>
          <a:p>
            <a:pPr marL="0" indent="0">
              <a:lnSpc>
                <a:spcPct val="100000"/>
              </a:lnSpc>
              <a:buNone/>
            </a:pPr>
            <a:endParaRPr lang="en-IN" sz="2000" dirty="0">
              <a:latin typeface="Times New Roman" panose="02020603050405020304" pitchFamily="18" charset="0"/>
              <a:cs typeface="Times New Roman" panose="02020603050405020304" pitchFamily="18" charset="0"/>
            </a:endParaRPr>
          </a:p>
          <a:p>
            <a:pPr>
              <a:lnSpc>
                <a:spcPct val="100000"/>
              </a:lnSpc>
            </a:pPr>
            <a:endParaRPr lang="en-IN" dirty="0"/>
          </a:p>
          <a:p>
            <a:pPr>
              <a:lnSpc>
                <a:spcPct val="100000"/>
              </a:lnSpc>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548" y="0"/>
            <a:ext cx="9905998" cy="1478570"/>
          </a:xfrm>
        </p:spPr>
        <p:txBody>
          <a:bodyPr/>
          <a:lstStyle/>
          <a:p>
            <a:pPr>
              <a:lnSpc>
                <a:spcPct val="100000"/>
              </a:lnSpc>
            </a:pPr>
            <a:r>
              <a:rPr lang="en-IN"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ABSTRACT</a:t>
            </a:r>
          </a:p>
        </p:txBody>
      </p:sp>
      <p:sp>
        <p:nvSpPr>
          <p:cNvPr id="6" name="Content Placeholder 2">
            <a:extLst>
              <a:ext uri="{FF2B5EF4-FFF2-40B4-BE49-F238E27FC236}">
                <a16:creationId xmlns:a16="http://schemas.microsoft.com/office/drawing/2014/main" id="{8BFBC395-D7BD-47B1-C1F5-D5CD3D3150B2}"/>
              </a:ext>
            </a:extLst>
          </p:cNvPr>
          <p:cNvSpPr>
            <a:spLocks noGrp="1"/>
          </p:cNvSpPr>
          <p:nvPr>
            <p:ph idx="1"/>
          </p:nvPr>
        </p:nvSpPr>
        <p:spPr>
          <a:xfrm>
            <a:off x="914400" y="1664620"/>
            <a:ext cx="10418146" cy="4504115"/>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This project develops a deep learning-based system to classify protein families. Models like GRU, RNN, and LSTM are used to analyze protein sequences and predict their biological functions.</a:t>
            </a:r>
          </a:p>
          <a:p>
            <a:pPr algn="just">
              <a:lnSpc>
                <a:spcPct val="150000"/>
              </a:lnSpc>
            </a:pPr>
            <a:r>
              <a:rPr lang="en-US" sz="1800" dirty="0">
                <a:latin typeface="Times New Roman" panose="02020603050405020304" pitchFamily="18" charset="0"/>
                <a:cs typeface="Times New Roman" panose="02020603050405020304" pitchFamily="18" charset="0"/>
              </a:rPr>
              <a:t>CASP protein sequences from </a:t>
            </a:r>
            <a:r>
              <a:rPr lang="en-US" sz="1800" dirty="0" err="1">
                <a:latin typeface="Times New Roman" panose="02020603050405020304" pitchFamily="18" charset="0"/>
                <a:cs typeface="Times New Roman" panose="02020603050405020304" pitchFamily="18" charset="0"/>
              </a:rPr>
              <a:t>SideChainNet</a:t>
            </a:r>
            <a:r>
              <a:rPr lang="en-US" sz="1800" dirty="0">
                <a:latin typeface="Times New Roman" panose="02020603050405020304" pitchFamily="18" charset="0"/>
                <a:cs typeface="Times New Roman" panose="02020603050405020304" pitchFamily="18" charset="0"/>
              </a:rPr>
              <a:t> are used for classification. Data preprocessing and feature extraction are performed using Google </a:t>
            </a:r>
            <a:r>
              <a:rPr lang="en-US" sz="1800" dirty="0" err="1">
                <a:latin typeface="Times New Roman" panose="02020603050405020304" pitchFamily="18" charset="0"/>
                <a:cs typeface="Times New Roman" panose="02020603050405020304" pitchFamily="18" charset="0"/>
              </a:rPr>
              <a:t>Colab</a:t>
            </a:r>
            <a:r>
              <a:rPr lang="en-US" sz="1800" dirty="0">
                <a:latin typeface="Times New Roman" panose="02020603050405020304" pitchFamily="18" charset="0"/>
                <a:cs typeface="Times New Roman" panose="02020603050405020304" pitchFamily="18" charset="0"/>
              </a:rPr>
              <a:t> GPU and saved in NumPy format.</a:t>
            </a:r>
          </a:p>
          <a:p>
            <a:pPr algn="just">
              <a:lnSpc>
                <a:spcPct val="150000"/>
              </a:lnSpc>
            </a:pPr>
            <a:r>
              <a:rPr lang="en-US" sz="1800" dirty="0">
                <a:latin typeface="Times New Roman" panose="02020603050405020304" pitchFamily="18" charset="0"/>
                <a:cs typeface="Times New Roman" panose="02020603050405020304" pitchFamily="18" charset="0"/>
              </a:rPr>
              <a:t>The system includes modules such as registration, dataset upload, preprocessing, model training, and protein family prediction. Users can train models and classify new protein sequences.</a:t>
            </a:r>
          </a:p>
          <a:p>
            <a:pPr algn="just">
              <a:lnSpc>
                <a:spcPct val="150000"/>
              </a:lnSpc>
            </a:pPr>
            <a:r>
              <a:rPr lang="en-US" sz="1800" dirty="0">
                <a:latin typeface="Times New Roman" panose="02020603050405020304" pitchFamily="18" charset="0"/>
                <a:cs typeface="Times New Roman" panose="02020603050405020304" pitchFamily="18" charset="0"/>
              </a:rPr>
              <a:t>Model performance is evaluated using accuracy, precision, recall, and F-score. Results are displayed using graphs and confusion matrices for effective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0"/>
            <a:ext cx="9905998" cy="1478570"/>
          </a:xfrm>
        </p:spPr>
        <p:txBody>
          <a:bodyPr/>
          <a:lstStyle/>
          <a:p>
            <a:r>
              <a:rPr lang="en-IN" dirty="0"/>
              <a:t>                         </a:t>
            </a:r>
            <a:r>
              <a:rPr lang="en-IN" sz="2800" b="1" dirty="0">
                <a:latin typeface="Times New Roman" panose="02020603050405020304" pitchFamily="18" charset="0"/>
                <a:cs typeface="Times New Roman" panose="02020603050405020304" pitchFamily="18" charset="0"/>
              </a:rPr>
              <a:t>INTRODUCTION</a:t>
            </a:r>
          </a:p>
        </p:txBody>
      </p:sp>
      <p:sp>
        <p:nvSpPr>
          <p:cNvPr id="7" name="Content Placeholder 6"/>
          <p:cNvSpPr>
            <a:spLocks noGrp="1"/>
          </p:cNvSpPr>
          <p:nvPr>
            <p:ph idx="1"/>
          </p:nvPr>
        </p:nvSpPr>
        <p:spPr>
          <a:xfrm>
            <a:off x="899160" y="1478570"/>
            <a:ext cx="10402253" cy="5102942"/>
          </a:xfrm>
        </p:spPr>
        <p:txBody>
          <a:bodyPr>
            <a:normAutofit lnSpcReduction="10000"/>
          </a:bodyPr>
          <a:lstStyle/>
          <a:p>
            <a:pPr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Proteins are essential biomolecules that perform functions like metabolism, DNA replication, and cell signaling. Classifying proteins into families helps understand their structure, function, and evolutionary relationships.</a:t>
            </a:r>
          </a:p>
          <a:p>
            <a:pPr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Traditional approaches such as sequence alignment and motif-based techniques are time-consuming and struggle with large-scale protein data generated by modern sequencing technologies.</a:t>
            </a:r>
          </a:p>
          <a:p>
            <a:pPr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Deep learning models like CNNs, RNNs, and Transformers automatically learn complex patterns from protein sequences, improving classification accuracy and reducing manual feature engineering.</a:t>
            </a:r>
          </a:p>
          <a:p>
            <a:pPr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Protein sequences from databases like </a:t>
            </a:r>
            <a:r>
              <a:rPr lang="en-US" sz="1800" dirty="0" err="1">
                <a:latin typeface="Times New Roman" panose="02020603050405020304" pitchFamily="18" charset="0"/>
                <a:cs typeface="Times New Roman" panose="02020603050405020304" pitchFamily="18" charset="0"/>
              </a:rPr>
              <a:t>UniProt</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Pfam</a:t>
            </a:r>
            <a:r>
              <a:rPr lang="en-US" sz="1800" dirty="0">
                <a:latin typeface="Times New Roman" panose="02020603050405020304" pitchFamily="18" charset="0"/>
                <a:cs typeface="Times New Roman" panose="02020603050405020304" pitchFamily="18" charset="0"/>
              </a:rPr>
              <a:t> are encoded into numerical formats and used to train models. Performance is evaluated using accuracy, precision, recall, and F1-score.</a:t>
            </a:r>
            <a:endParaRPr lang="en-IN" sz="1800" dirty="0">
              <a:latin typeface="Times New Roman" panose="02020603050405020304" pitchFamily="18" charset="0"/>
              <a:cs typeface="Times New Roman" panose="02020603050405020304" pitchFamily="18" charset="0"/>
            </a:endParaRPr>
          </a:p>
          <a:p>
            <a:pPr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This approach supports drug discovery, disease prediction, genomics research, and automated protein annotation, enabling faster and more accurate biological analysis.</a:t>
            </a:r>
          </a:p>
          <a:p>
            <a:pPr algn="just">
              <a:lnSpc>
                <a:spcPct val="115000"/>
              </a:lnSpc>
              <a:spcBef>
                <a:spcPts val="0"/>
              </a:spcBef>
              <a:spcAft>
                <a:spcPts val="1000"/>
              </a:spcAft>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1296" y="-111892"/>
            <a:ext cx="9905998" cy="1478570"/>
          </a:xfrm>
        </p:spPr>
        <p:txBody>
          <a:bodyPr>
            <a:normAutofit/>
          </a:bodyPr>
          <a:lstStyle/>
          <a:p>
            <a:r>
              <a:rPr lang="en-IN" sz="2800" b="1" dirty="0">
                <a:latin typeface="Times New Roman" panose="02020603050405020304" pitchFamily="18" charset="0"/>
                <a:cs typeface="Times New Roman" panose="02020603050405020304" pitchFamily="18" charset="0"/>
              </a:rPr>
              <a:t>                        LITERATURE SURVEY</a:t>
            </a:r>
          </a:p>
        </p:txBody>
      </p:sp>
      <p:sp>
        <p:nvSpPr>
          <p:cNvPr id="7" name="Content Placeholder 6"/>
          <p:cNvSpPr>
            <a:spLocks noGrp="1"/>
          </p:cNvSpPr>
          <p:nvPr>
            <p:ph idx="1"/>
          </p:nvPr>
        </p:nvSpPr>
        <p:spPr>
          <a:xfrm>
            <a:off x="694707" y="1376996"/>
            <a:ext cx="10802587" cy="5646862"/>
          </a:xfrm>
        </p:spPr>
        <p:txBody>
          <a:bodyPr>
            <a:normAutofit fontScale="92500"/>
          </a:bodyPr>
          <a:lstStyle/>
          <a:p>
            <a:pPr marL="0" marR="0" lvl="0" indent="0" algn="just">
              <a:lnSpc>
                <a:spcPct val="150000"/>
              </a:lnSpc>
              <a:spcBef>
                <a:spcPts val="0"/>
              </a:spcBef>
              <a:spcAft>
                <a:spcPts val="0"/>
              </a:spcAft>
              <a:buSzPts val="1400"/>
              <a:buNone/>
              <a:tabLst>
                <a:tab pos="401320" algn="l"/>
              </a:tabLst>
            </a:pPr>
            <a:r>
              <a:rPr lang="en-US" sz="1800" b="1" dirty="0">
                <a:latin typeface="Times New Roman" panose="02020603050405020304" pitchFamily="18" charset="0"/>
                <a:cs typeface="Times New Roman" panose="02020603050405020304" pitchFamily="18" charset="0"/>
              </a:rPr>
              <a:t>1.  Transformer-Based Models (Mehta et al., 2024) </a:t>
            </a:r>
          </a:p>
          <a:p>
            <a:pPr marL="0" indent="0" algn="just">
              <a:lnSpc>
                <a:spcPct val="150000"/>
              </a:lnSpc>
              <a:spcBef>
                <a:spcPts val="0"/>
              </a:spcBef>
              <a:buSzPts val="1400"/>
              <a:buNone/>
              <a:tabLst>
                <a:tab pos="401320" algn="l"/>
              </a:tabLst>
            </a:pPr>
            <a:r>
              <a:rPr lang="en-US" sz="1800" b="1" spc="-2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Utilizes pre-trained Transformers to capture global dependencies, achieving state-of-the-art results in    protein classification.</a:t>
            </a:r>
          </a:p>
          <a:p>
            <a:pPr marL="0" marR="0" lvl="0" indent="0" algn="just">
              <a:lnSpc>
                <a:spcPct val="150000"/>
              </a:lnSpc>
              <a:spcBef>
                <a:spcPts val="0"/>
              </a:spcBef>
              <a:spcAft>
                <a:spcPts val="0"/>
              </a:spcAft>
              <a:buSzPts val="1400"/>
              <a:buNone/>
              <a:tabLst>
                <a:tab pos="401320" algn="l"/>
              </a:tabLst>
            </a:pPr>
            <a:r>
              <a:rPr lang="en-US" sz="1800" b="1" dirty="0">
                <a:latin typeface="Times New Roman" panose="02020603050405020304" pitchFamily="18" charset="0"/>
                <a:cs typeface="Times New Roman" panose="02020603050405020304" pitchFamily="18" charset="0"/>
              </a:rPr>
              <a:t>2.  Multi-Task Learning (Wang et al., 2023)</a:t>
            </a:r>
          </a:p>
          <a:p>
            <a:pPr marL="0" indent="0" algn="just">
              <a:lnSpc>
                <a:spcPct val="150000"/>
              </a:lnSpc>
              <a:spcBef>
                <a:spcPts val="0"/>
              </a:spcBef>
              <a:buSzPts val="1400"/>
              <a:buNone/>
              <a:tabLst>
                <a:tab pos="401320" algn="l"/>
              </a:tabLst>
            </a:pPr>
            <a:r>
              <a:rPr lang="en-US" sz="1800"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Jointly predicts protein family and function using shared and task-specific layers, improving overall model robustness.</a:t>
            </a:r>
            <a:endParaRPr lang="en-US" sz="1800"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spcBef>
                <a:spcPts val="0"/>
              </a:spcBef>
              <a:buSzPts val="1400"/>
              <a:buNone/>
              <a:tabLst>
                <a:tab pos="401320" algn="l"/>
              </a:tabLst>
            </a:pPr>
            <a:r>
              <a:rPr lang="en-US" sz="1800" b="1" dirty="0">
                <a:solidFill>
                  <a:srgbClr val="333333"/>
                </a:solidFill>
                <a:latin typeface="Times New Roman" panose="02020603050405020304" pitchFamily="18" charset="0"/>
                <a:cs typeface="Times New Roman" panose="02020603050405020304" pitchFamily="18" charset="0"/>
              </a:rPr>
              <a:t>3.  </a:t>
            </a:r>
            <a:r>
              <a:rPr lang="en-US" sz="1800" b="1" dirty="0">
                <a:latin typeface="Times New Roman" panose="02020603050405020304" pitchFamily="18" charset="0"/>
                <a:cs typeface="Times New Roman" panose="02020603050405020304" pitchFamily="18" charset="0"/>
              </a:rPr>
              <a:t>Attention-Based DNN (Kim et al., 2022)</a:t>
            </a:r>
            <a:endParaRPr lang="en-US" sz="1800"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spcBef>
                <a:spcPts val="0"/>
              </a:spcBef>
              <a:buSzPts val="1400"/>
              <a:buNone/>
              <a:tabLst>
                <a:tab pos="401320" algn="l"/>
              </a:tabLst>
            </a:pPr>
            <a:r>
              <a:rPr lang="en-US" sz="18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Uses self-attention and positional encoding to highlight important residues, improving interpretability and accuracy.</a:t>
            </a:r>
          </a:p>
          <a:p>
            <a:pPr marL="0" indent="0" algn="just">
              <a:lnSpc>
                <a:spcPct val="150000"/>
              </a:lnSpc>
              <a:spcBef>
                <a:spcPts val="0"/>
              </a:spcBef>
              <a:buSzPts val="1400"/>
              <a:buNone/>
              <a:tabLst>
                <a:tab pos="401320" algn="l"/>
              </a:tabLst>
            </a:pPr>
            <a:r>
              <a:rPr lang="en-US" sz="1800" b="1" dirty="0">
                <a:solidFill>
                  <a:srgbClr val="333333"/>
                </a:solidFill>
                <a:latin typeface="Times New Roman" panose="02020603050405020304" pitchFamily="18" charset="0"/>
                <a:cs typeface="Times New Roman" panose="02020603050405020304" pitchFamily="18" charset="0"/>
              </a:rPr>
              <a:t>4.  </a:t>
            </a:r>
            <a:r>
              <a:rPr lang="en-US" sz="1800" b="1" dirty="0">
                <a:latin typeface="Times New Roman" panose="02020603050405020304" pitchFamily="18" charset="0"/>
                <a:cs typeface="Times New Roman" panose="02020603050405020304" pitchFamily="18" charset="0"/>
              </a:rPr>
              <a:t>Graph-Based Deep Learning (Li et al., 2021)</a:t>
            </a:r>
            <a:endParaRPr lang="en-US" sz="1800" b="1" dirty="0">
              <a:effectLst/>
              <a:latin typeface="Times New Roman" panose="02020603050405020304" pitchFamily="18" charset="0"/>
              <a:ea typeface="Times New Roman" panose="02020603050405020304" pitchFamily="18" charset="0"/>
            </a:endParaRPr>
          </a:p>
          <a:p>
            <a:pPr marL="0" indent="0" algn="just">
              <a:lnSpc>
                <a:spcPct val="150000"/>
              </a:lnSpc>
              <a:spcBef>
                <a:spcPts val="0"/>
              </a:spcBef>
              <a:buSzPts val="1400"/>
              <a:buNone/>
              <a:tabLst>
                <a:tab pos="401320" algn="l"/>
              </a:tabLst>
            </a:pPr>
            <a:r>
              <a:rPr lang="en-US" sz="1800" b="1" dirty="0">
                <a:solidFill>
                  <a:srgbClr val="333333"/>
                </a:solidFill>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GNN models protein residues as graph nodes to learn structural relationships, outperforming sequence-only models.</a:t>
            </a:r>
            <a:endParaRPr kumimoji="0" 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indent="0">
              <a:lnSpc>
                <a:spcPct val="150000"/>
              </a:lnSpc>
              <a:spcBef>
                <a:spcPts val="0"/>
              </a:spcBef>
              <a:buSzPts val="1400"/>
              <a:buNone/>
              <a:tabLst>
                <a:tab pos="401320" algn="l"/>
              </a:tabLst>
            </a:pPr>
            <a:r>
              <a:rPr kumimoji="0" 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5.  </a:t>
            </a:r>
            <a:r>
              <a:rPr lang="en-US" sz="1800" b="1" dirty="0" err="1">
                <a:latin typeface="Times New Roman" panose="02020603050405020304" pitchFamily="18" charset="0"/>
                <a:cs typeface="Times New Roman" panose="02020603050405020304" pitchFamily="18" charset="0"/>
              </a:rPr>
              <a:t>DeepProt</a:t>
            </a:r>
            <a:r>
              <a:rPr lang="en-US" sz="1800" b="1" dirty="0">
                <a:latin typeface="Times New Roman" panose="02020603050405020304" pitchFamily="18" charset="0"/>
                <a:cs typeface="Times New Roman" panose="02020603050405020304" pitchFamily="18" charset="0"/>
              </a:rPr>
              <a:t> Framework (Rao et al., 2020)</a:t>
            </a:r>
            <a:r>
              <a:rPr kumimoji="0" 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a:t>
            </a:r>
            <a:br>
              <a:rPr kumimoji="0" 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br>
            <a:r>
              <a:rPr kumimoji="0" lang="en-US" sz="1800"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End-to-end deep learning with embeddings, CNNs, and residual layers for efficient and generalizable protein classification.</a:t>
            </a:r>
            <a:endParaRPr kumimoji="0" lang="en-US" sz="1800" b="0" i="0" u="none" strike="noStrike" kern="0" cap="none" spc="-1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0" indent="0" algn="just">
              <a:spcBef>
                <a:spcPts val="0"/>
              </a:spcBef>
              <a:buSzPts val="1400"/>
              <a:buNone/>
              <a:tabLst>
                <a:tab pos="401320" algn="l"/>
              </a:tabLst>
            </a:pPr>
            <a:endParaRPr lang="en-US" sz="1800" dirty="0">
              <a:latin typeface="Times New Roman" panose="02020603050405020304" pitchFamily="18" charset="0"/>
              <a:cs typeface="Times New Roman" panose="02020603050405020304" pitchFamily="18" charset="0"/>
            </a:endParaRPr>
          </a:p>
          <a:p>
            <a:pPr marL="0" indent="0" algn="just">
              <a:spcBef>
                <a:spcPts val="0"/>
              </a:spcBef>
              <a:buSzPts val="1400"/>
              <a:buNone/>
              <a:tabLst>
                <a:tab pos="401320" algn="l"/>
              </a:tabLst>
            </a:pPr>
            <a:endParaRPr lang="en-US" sz="1800" b="1" dirty="0">
              <a:solidFill>
                <a:srgbClr val="333333"/>
              </a:solidFill>
              <a:effectLst/>
              <a:latin typeface="Times New Roman" panose="02020603050405020304" pitchFamily="18" charset="0"/>
              <a:ea typeface="Times New Roman" panose="02020603050405020304" pitchFamily="18" charset="0"/>
            </a:endParaRPr>
          </a:p>
          <a:p>
            <a:pPr marL="0" indent="0" algn="just">
              <a:spcBef>
                <a:spcPts val="0"/>
              </a:spcBef>
              <a:buSzPts val="1400"/>
              <a:buNone/>
              <a:tabLst>
                <a:tab pos="401320" algn="l"/>
              </a:tabLst>
            </a:pPr>
            <a:endParaRPr lang="en-US" sz="2000" spc="0" dirty="0">
              <a:solidFill>
                <a:srgbClr val="333333"/>
              </a:solidFill>
              <a:latin typeface="Times New Roman" panose="02020603050405020304" pitchFamily="18" charset="0"/>
              <a:ea typeface="Times New Roman" panose="02020603050405020304" pitchFamily="18" charset="0"/>
            </a:endParaRPr>
          </a:p>
          <a:p>
            <a:pPr marL="0" indent="0" algn="just">
              <a:spcBef>
                <a:spcPts val="0"/>
              </a:spcBef>
              <a:buSzPts val="1400"/>
              <a:buNone/>
              <a:tabLst>
                <a:tab pos="401320" algn="l"/>
              </a:tabLst>
            </a:pPr>
            <a:endParaRPr lang="en-US" sz="1600" spc="0" dirty="0">
              <a:effectLst/>
              <a:latin typeface="Times New Roman" panose="02020603050405020304" pitchFamily="18" charset="0"/>
              <a:ea typeface="Times New Roman" panose="02020603050405020304" pitchFamily="18" charset="0"/>
            </a:endParaRPr>
          </a:p>
          <a:p>
            <a:pPr marL="0" marR="0" lvl="0" indent="0" algn="just">
              <a:spcBef>
                <a:spcPts val="0"/>
              </a:spcBef>
              <a:spcAft>
                <a:spcPts val="0"/>
              </a:spcAft>
              <a:buSzPts val="1400"/>
              <a:buNone/>
              <a:tabLst>
                <a:tab pos="401320" algn="l"/>
              </a:tabLst>
            </a:pPr>
            <a:endParaRPr lang="en-US" sz="1600" b="1" dirty="0">
              <a:effectLst/>
              <a:latin typeface="Times New Roman" panose="02020603050405020304" pitchFamily="18" charset="0"/>
              <a:ea typeface="Times New Roman" panose="02020603050405020304" pitchFamily="18" charset="0"/>
            </a:endParaRPr>
          </a:p>
          <a:p>
            <a:pPr marL="0" indent="0" algn="just">
              <a:buNone/>
            </a:pPr>
            <a:endParaRPr lang="en-IN" sz="1600" b="1" dirty="0">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Rectangle 3"/>
          <p:cNvSpPr>
            <a:spLocks noChangeArrowheads="1"/>
          </p:cNvSpPr>
          <p:nvPr/>
        </p:nvSpPr>
        <p:spPr bwMode="auto">
          <a:xfrm>
            <a:off x="0" y="3000787"/>
            <a:ext cx="12192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F327D-CE53-5EEE-E10E-EE6E9688FECC}"/>
              </a:ext>
            </a:extLst>
          </p:cNvPr>
          <p:cNvSpPr>
            <a:spLocks noGrp="1"/>
          </p:cNvSpPr>
          <p:nvPr>
            <p:ph type="title"/>
          </p:nvPr>
        </p:nvSpPr>
        <p:spPr>
          <a:xfrm>
            <a:off x="838200" y="261886"/>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STATEMENT/OBJECTIVE</a:t>
            </a:r>
          </a:p>
        </p:txBody>
      </p:sp>
      <p:sp>
        <p:nvSpPr>
          <p:cNvPr id="3" name="Content Placeholder 2">
            <a:extLst>
              <a:ext uri="{FF2B5EF4-FFF2-40B4-BE49-F238E27FC236}">
                <a16:creationId xmlns:a16="http://schemas.microsoft.com/office/drawing/2014/main" id="{13E65F8E-5A48-5279-EA67-6BDA7F59D303}"/>
              </a:ext>
            </a:extLst>
          </p:cNvPr>
          <p:cNvSpPr>
            <a:spLocks noGrp="1"/>
          </p:cNvSpPr>
          <p:nvPr>
            <p:ph idx="1"/>
          </p:nvPr>
        </p:nvSpPr>
        <p:spPr>
          <a:xfrm>
            <a:off x="960120" y="1770329"/>
            <a:ext cx="10012680" cy="5270551"/>
          </a:xfrm>
        </p:spPr>
        <p:txBody>
          <a:bodyPr>
            <a:normAutofit/>
          </a:bodyPr>
          <a:lstStyle/>
          <a:p>
            <a:pPr algn="just">
              <a:lnSpc>
                <a:spcPct val="150000"/>
              </a:lnSpc>
              <a:spcBef>
                <a:spcPts val="0"/>
              </a:spcBef>
              <a:defRPr/>
            </a:pPr>
            <a:r>
              <a:rPr lang="en-US" sz="1800" dirty="0">
                <a:latin typeface="Times New Roman" panose="02020603050405020304" pitchFamily="18" charset="0"/>
                <a:cs typeface="Times New Roman" panose="02020603050405020304" pitchFamily="18" charset="0"/>
              </a:rPr>
              <a:t>Proteins are essential for biological functions, but the rapid growth of protein sequence data makes manual classification difficult. Traditional methods like sequence alignment are time-consuming, require high computational resources, and struggle with large datasets.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just">
              <a:lnSpc>
                <a:spcPct val="150000"/>
              </a:lnSpc>
              <a:spcBef>
                <a:spcPts val="0"/>
              </a:spcBef>
              <a:defRPr/>
            </a:pPr>
            <a:r>
              <a:rPr lang="en-US" sz="1800" dirty="0">
                <a:latin typeface="Times New Roman" panose="02020603050405020304" pitchFamily="18" charset="0"/>
                <a:cs typeface="Times New Roman" panose="02020603050405020304" pitchFamily="18" charset="0"/>
              </a:rPr>
              <a:t>The main objective is to develop an automated protein family classification system using deep learning models such as RNN, LSTM, and GRU to analyze protein sequences and extract meaningful features.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The system aims to improve classification accuracy, efficiently handle large datasets, and evaluate performance using accuracy, precision, recall, and F1-score, supporting bioinformatics research and drug discovery.</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948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0236" y="-154266"/>
            <a:ext cx="9905998" cy="1478570"/>
          </a:xfrm>
        </p:spPr>
        <p:txBody>
          <a:bodyPr/>
          <a:lstStyle/>
          <a:p>
            <a:r>
              <a:rPr lang="en-IN" dirty="0"/>
              <a:t>                     </a:t>
            </a:r>
            <a:r>
              <a:rPr lang="en-IN" sz="2800" b="1" dirty="0">
                <a:latin typeface="Times New Roman" panose="02020603050405020304" pitchFamily="18" charset="0"/>
                <a:cs typeface="Times New Roman" panose="02020603050405020304" pitchFamily="18" charset="0"/>
              </a:rPr>
              <a:t>EXISTING SYSTEM </a:t>
            </a:r>
          </a:p>
        </p:txBody>
      </p:sp>
      <p:sp>
        <p:nvSpPr>
          <p:cNvPr id="3" name="Content Placeholder 2"/>
          <p:cNvSpPr>
            <a:spLocks noGrp="1"/>
          </p:cNvSpPr>
          <p:nvPr>
            <p:ph idx="1"/>
          </p:nvPr>
        </p:nvSpPr>
        <p:spPr>
          <a:xfrm>
            <a:off x="664340" y="1065995"/>
            <a:ext cx="10863319" cy="5889234"/>
          </a:xfrm>
        </p:spPr>
        <p:txBody>
          <a:bodyPr>
            <a:normAutofit/>
          </a:bodyPr>
          <a:lstStyle/>
          <a:p>
            <a:pPr algn="just">
              <a:lnSpc>
                <a:spcPct val="150000"/>
              </a:lnSpc>
            </a:pPr>
            <a:r>
              <a:rPr lang="en-US" sz="1600" dirty="0">
                <a:latin typeface="Times New Roman"/>
                <a:cs typeface="Times New Roman"/>
              </a:rPr>
              <a:t>In</a:t>
            </a:r>
            <a:r>
              <a:rPr lang="en-US" sz="1600" spc="105" dirty="0">
                <a:latin typeface="Times New Roman"/>
                <a:cs typeface="Times New Roman"/>
              </a:rPr>
              <a:t> </a:t>
            </a:r>
            <a:r>
              <a:rPr lang="en-US" sz="1600" dirty="0">
                <a:latin typeface="Times New Roman"/>
                <a:cs typeface="Times New Roman"/>
              </a:rPr>
              <a:t>existing</a:t>
            </a:r>
            <a:r>
              <a:rPr lang="en-US" sz="1600" spc="100" dirty="0">
                <a:latin typeface="Times New Roman"/>
                <a:cs typeface="Times New Roman"/>
              </a:rPr>
              <a:t> </a:t>
            </a:r>
            <a:r>
              <a:rPr lang="en-US" sz="1600" dirty="0">
                <a:latin typeface="Times New Roman"/>
                <a:cs typeface="Times New Roman"/>
              </a:rPr>
              <a:t>protein</a:t>
            </a:r>
            <a:r>
              <a:rPr lang="en-US" sz="1600" spc="105" dirty="0">
                <a:latin typeface="Times New Roman"/>
                <a:cs typeface="Times New Roman"/>
              </a:rPr>
              <a:t> </a:t>
            </a:r>
            <a:r>
              <a:rPr lang="en-US" sz="1600" dirty="0">
                <a:latin typeface="Times New Roman"/>
                <a:cs typeface="Times New Roman"/>
              </a:rPr>
              <a:t>family</a:t>
            </a:r>
            <a:r>
              <a:rPr lang="en-US" sz="1600" spc="100" dirty="0">
                <a:latin typeface="Times New Roman"/>
                <a:cs typeface="Times New Roman"/>
              </a:rPr>
              <a:t> </a:t>
            </a:r>
            <a:r>
              <a:rPr lang="en-US" sz="1600" dirty="0">
                <a:latin typeface="Times New Roman"/>
                <a:cs typeface="Times New Roman"/>
              </a:rPr>
              <a:t>classification</a:t>
            </a:r>
            <a:r>
              <a:rPr lang="en-US" sz="1600" spc="105" dirty="0">
                <a:latin typeface="Times New Roman"/>
                <a:cs typeface="Times New Roman"/>
              </a:rPr>
              <a:t> </a:t>
            </a:r>
            <a:r>
              <a:rPr lang="en-US" sz="1600" dirty="0">
                <a:latin typeface="Times New Roman"/>
                <a:cs typeface="Times New Roman"/>
              </a:rPr>
              <a:t>systems,</a:t>
            </a:r>
            <a:r>
              <a:rPr lang="en-US" sz="1600" spc="100" dirty="0">
                <a:latin typeface="Times New Roman"/>
                <a:cs typeface="Times New Roman"/>
              </a:rPr>
              <a:t> </a:t>
            </a:r>
            <a:r>
              <a:rPr lang="en-US" sz="1600" dirty="0">
                <a:latin typeface="Times New Roman"/>
                <a:cs typeface="Times New Roman"/>
              </a:rPr>
              <a:t>traditional</a:t>
            </a:r>
            <a:r>
              <a:rPr lang="en-US" sz="1600" spc="105" dirty="0">
                <a:latin typeface="Times New Roman"/>
                <a:cs typeface="Times New Roman"/>
              </a:rPr>
              <a:t> </a:t>
            </a:r>
            <a:r>
              <a:rPr lang="en-US" sz="1600" dirty="0">
                <a:latin typeface="Times New Roman"/>
                <a:cs typeface="Times New Roman"/>
              </a:rPr>
              <a:t>machine</a:t>
            </a:r>
            <a:r>
              <a:rPr lang="en-US" sz="1600" spc="100" dirty="0">
                <a:latin typeface="Times New Roman"/>
                <a:cs typeface="Times New Roman"/>
              </a:rPr>
              <a:t> </a:t>
            </a:r>
            <a:r>
              <a:rPr lang="en-US" sz="1600" dirty="0">
                <a:latin typeface="Times New Roman"/>
                <a:cs typeface="Times New Roman"/>
              </a:rPr>
              <a:t>learning</a:t>
            </a:r>
            <a:r>
              <a:rPr lang="en-US" sz="1600" spc="105" dirty="0">
                <a:latin typeface="Times New Roman"/>
                <a:cs typeface="Times New Roman"/>
              </a:rPr>
              <a:t> </a:t>
            </a:r>
            <a:r>
              <a:rPr lang="en-US" sz="1600" dirty="0">
                <a:latin typeface="Times New Roman"/>
                <a:cs typeface="Times New Roman"/>
              </a:rPr>
              <a:t>techniques</a:t>
            </a:r>
            <a:r>
              <a:rPr lang="en-US" sz="1600" spc="100" dirty="0">
                <a:latin typeface="Times New Roman"/>
                <a:cs typeface="Times New Roman"/>
              </a:rPr>
              <a:t> </a:t>
            </a:r>
            <a:r>
              <a:rPr lang="en-US" sz="1600" dirty="0">
                <a:latin typeface="Times New Roman"/>
                <a:cs typeface="Times New Roman"/>
              </a:rPr>
              <a:t>such</a:t>
            </a:r>
            <a:r>
              <a:rPr lang="en-US" sz="1600" spc="105" dirty="0">
                <a:latin typeface="Times New Roman"/>
                <a:cs typeface="Times New Roman"/>
              </a:rPr>
              <a:t> </a:t>
            </a:r>
            <a:r>
              <a:rPr lang="en-US" sz="1600" spc="-25" dirty="0">
                <a:latin typeface="Times New Roman"/>
                <a:cs typeface="Times New Roman"/>
              </a:rPr>
              <a:t>as </a:t>
            </a:r>
            <a:r>
              <a:rPr lang="en-US" sz="1600" dirty="0">
                <a:latin typeface="Times New Roman"/>
                <a:cs typeface="Times New Roman"/>
              </a:rPr>
              <a:t>Support</a:t>
            </a:r>
            <a:r>
              <a:rPr lang="en-US" sz="1600" spc="385" dirty="0">
                <a:latin typeface="Times New Roman"/>
                <a:cs typeface="Times New Roman"/>
              </a:rPr>
              <a:t> </a:t>
            </a:r>
            <a:r>
              <a:rPr lang="en-US" sz="1600" dirty="0">
                <a:latin typeface="Times New Roman"/>
                <a:cs typeface="Times New Roman"/>
              </a:rPr>
              <a:t>Vector</a:t>
            </a:r>
            <a:r>
              <a:rPr lang="en-US" sz="1600" spc="430" dirty="0">
                <a:latin typeface="Times New Roman"/>
                <a:cs typeface="Times New Roman"/>
              </a:rPr>
              <a:t> </a:t>
            </a:r>
            <a:r>
              <a:rPr lang="en-US" sz="1600" dirty="0">
                <a:latin typeface="Times New Roman"/>
                <a:cs typeface="Times New Roman"/>
              </a:rPr>
              <a:t>Machines</a:t>
            </a:r>
            <a:r>
              <a:rPr lang="en-US" sz="1600" spc="434" dirty="0">
                <a:latin typeface="Times New Roman"/>
                <a:cs typeface="Times New Roman"/>
              </a:rPr>
              <a:t> </a:t>
            </a:r>
            <a:r>
              <a:rPr lang="en-US" sz="1600" dirty="0">
                <a:latin typeface="Times New Roman"/>
                <a:cs typeface="Times New Roman"/>
              </a:rPr>
              <a:t>(SVM),</a:t>
            </a:r>
            <a:r>
              <a:rPr lang="en-US" sz="1600" spc="430" dirty="0">
                <a:latin typeface="Times New Roman"/>
                <a:cs typeface="Times New Roman"/>
              </a:rPr>
              <a:t> </a:t>
            </a:r>
            <a:r>
              <a:rPr lang="en-US" sz="1600" dirty="0">
                <a:latin typeface="Times New Roman"/>
                <a:cs typeface="Times New Roman"/>
              </a:rPr>
              <a:t>Decision</a:t>
            </a:r>
            <a:r>
              <a:rPr lang="en-US" sz="1600" spc="385" dirty="0">
                <a:latin typeface="Times New Roman"/>
                <a:cs typeface="Times New Roman"/>
              </a:rPr>
              <a:t> </a:t>
            </a:r>
            <a:r>
              <a:rPr lang="en-US" sz="1600" dirty="0">
                <a:latin typeface="Times New Roman"/>
                <a:cs typeface="Times New Roman"/>
              </a:rPr>
              <a:t>Trees,</a:t>
            </a:r>
            <a:r>
              <a:rPr lang="en-US" sz="1600" spc="430" dirty="0">
                <a:latin typeface="Times New Roman"/>
                <a:cs typeface="Times New Roman"/>
              </a:rPr>
              <a:t> </a:t>
            </a:r>
            <a:r>
              <a:rPr lang="en-US" sz="1600" dirty="0">
                <a:latin typeface="Times New Roman"/>
                <a:cs typeface="Times New Roman"/>
              </a:rPr>
              <a:t>k-Nearest</a:t>
            </a:r>
            <a:r>
              <a:rPr lang="en-US" sz="1600" spc="434" dirty="0">
                <a:latin typeface="Times New Roman"/>
                <a:cs typeface="Times New Roman"/>
              </a:rPr>
              <a:t> </a:t>
            </a:r>
            <a:r>
              <a:rPr lang="en-US" sz="1600" dirty="0">
                <a:latin typeface="Times New Roman"/>
                <a:cs typeface="Times New Roman"/>
              </a:rPr>
              <a:t>Neighbors</a:t>
            </a:r>
            <a:r>
              <a:rPr lang="en-US" sz="1600" spc="430" dirty="0">
                <a:latin typeface="Times New Roman"/>
                <a:cs typeface="Times New Roman"/>
              </a:rPr>
              <a:t> </a:t>
            </a:r>
            <a:r>
              <a:rPr lang="en-US" sz="1600" dirty="0">
                <a:latin typeface="Times New Roman"/>
                <a:cs typeface="Times New Roman"/>
              </a:rPr>
              <a:t>(k-NN),</a:t>
            </a:r>
            <a:r>
              <a:rPr lang="en-US" sz="1600" spc="430" dirty="0">
                <a:latin typeface="Times New Roman"/>
                <a:cs typeface="Times New Roman"/>
              </a:rPr>
              <a:t> </a:t>
            </a:r>
            <a:r>
              <a:rPr lang="en-US" sz="1600" dirty="0">
                <a:latin typeface="Times New Roman"/>
                <a:cs typeface="Times New Roman"/>
              </a:rPr>
              <a:t>and</a:t>
            </a:r>
            <a:r>
              <a:rPr lang="en-US" sz="1600" spc="430" dirty="0">
                <a:latin typeface="Times New Roman"/>
                <a:cs typeface="Times New Roman"/>
              </a:rPr>
              <a:t> </a:t>
            </a:r>
            <a:r>
              <a:rPr lang="en-US" sz="1600" spc="-10" dirty="0">
                <a:latin typeface="Times New Roman"/>
                <a:cs typeface="Times New Roman"/>
              </a:rPr>
              <a:t>Random </a:t>
            </a:r>
            <a:r>
              <a:rPr lang="en-US" sz="1600" dirty="0">
                <a:latin typeface="Times New Roman"/>
                <a:cs typeface="Times New Roman"/>
              </a:rPr>
              <a:t>Forests</a:t>
            </a:r>
            <a:r>
              <a:rPr lang="en-US" sz="1600" spc="10" dirty="0">
                <a:latin typeface="Times New Roman"/>
                <a:cs typeface="Times New Roman"/>
              </a:rPr>
              <a:t> </a:t>
            </a:r>
            <a:r>
              <a:rPr lang="en-US" sz="1600" dirty="0">
                <a:latin typeface="Times New Roman"/>
                <a:cs typeface="Times New Roman"/>
              </a:rPr>
              <a:t>have</a:t>
            </a:r>
            <a:r>
              <a:rPr lang="en-US" sz="1600" spc="25" dirty="0">
                <a:latin typeface="Times New Roman"/>
                <a:cs typeface="Times New Roman"/>
              </a:rPr>
              <a:t> </a:t>
            </a:r>
            <a:r>
              <a:rPr lang="en-US" sz="1600" dirty="0">
                <a:latin typeface="Times New Roman"/>
                <a:cs typeface="Times New Roman"/>
              </a:rPr>
              <a:t>been</a:t>
            </a:r>
            <a:r>
              <a:rPr lang="en-US" sz="1600" spc="20" dirty="0">
                <a:latin typeface="Times New Roman"/>
                <a:cs typeface="Times New Roman"/>
              </a:rPr>
              <a:t> </a:t>
            </a:r>
            <a:r>
              <a:rPr lang="en-US" sz="1600" dirty="0">
                <a:latin typeface="Times New Roman"/>
                <a:cs typeface="Times New Roman"/>
              </a:rPr>
              <a:t>widely</a:t>
            </a:r>
            <a:r>
              <a:rPr lang="en-US" sz="1600" spc="20" dirty="0">
                <a:latin typeface="Times New Roman"/>
                <a:cs typeface="Times New Roman"/>
              </a:rPr>
              <a:t> </a:t>
            </a:r>
            <a:r>
              <a:rPr lang="en-US" sz="1600" spc="-10" dirty="0">
                <a:latin typeface="Times New Roman"/>
                <a:cs typeface="Times New Roman"/>
              </a:rPr>
              <a:t>used.</a:t>
            </a:r>
            <a:endParaRPr lang="en-US" sz="1600" dirty="0">
              <a:latin typeface="Times New Roman"/>
              <a:cs typeface="Times New Roman"/>
            </a:endParaRPr>
          </a:p>
          <a:p>
            <a:pPr algn="just">
              <a:lnSpc>
                <a:spcPct val="150000"/>
              </a:lnSpc>
            </a:pPr>
            <a:r>
              <a:rPr lang="en-US" sz="1600" dirty="0">
                <a:latin typeface="Times New Roman"/>
                <a:cs typeface="Times New Roman"/>
              </a:rPr>
              <a:t>These</a:t>
            </a:r>
            <a:r>
              <a:rPr lang="en-US" sz="1600" spc="190" dirty="0">
                <a:latin typeface="Times New Roman"/>
                <a:cs typeface="Times New Roman"/>
              </a:rPr>
              <a:t> </a:t>
            </a:r>
            <a:r>
              <a:rPr lang="en-US" sz="1600" dirty="0">
                <a:latin typeface="Times New Roman"/>
                <a:cs typeface="Times New Roman"/>
              </a:rPr>
              <a:t>methods</a:t>
            </a:r>
            <a:r>
              <a:rPr lang="en-US" sz="1600" spc="200" dirty="0">
                <a:latin typeface="Times New Roman"/>
                <a:cs typeface="Times New Roman"/>
              </a:rPr>
              <a:t> </a:t>
            </a:r>
            <a:r>
              <a:rPr lang="en-US" sz="1600" dirty="0">
                <a:latin typeface="Times New Roman"/>
                <a:cs typeface="Times New Roman"/>
              </a:rPr>
              <a:t>typically</a:t>
            </a:r>
            <a:r>
              <a:rPr lang="en-US" sz="1600" spc="204" dirty="0">
                <a:latin typeface="Times New Roman"/>
                <a:cs typeface="Times New Roman"/>
              </a:rPr>
              <a:t> </a:t>
            </a:r>
            <a:r>
              <a:rPr lang="en-US" sz="1600" dirty="0">
                <a:latin typeface="Times New Roman"/>
                <a:cs typeface="Times New Roman"/>
              </a:rPr>
              <a:t>rely</a:t>
            </a:r>
            <a:r>
              <a:rPr lang="en-US" sz="1600" spc="200" dirty="0">
                <a:latin typeface="Times New Roman"/>
                <a:cs typeface="Times New Roman"/>
              </a:rPr>
              <a:t> </a:t>
            </a:r>
            <a:r>
              <a:rPr lang="en-US" sz="1600" dirty="0">
                <a:latin typeface="Times New Roman"/>
                <a:cs typeface="Times New Roman"/>
              </a:rPr>
              <a:t>on</a:t>
            </a:r>
            <a:r>
              <a:rPr lang="en-US" sz="1600" spc="200" dirty="0">
                <a:latin typeface="Times New Roman"/>
                <a:cs typeface="Times New Roman"/>
              </a:rPr>
              <a:t> </a:t>
            </a:r>
            <a:r>
              <a:rPr lang="en-US" sz="1600" dirty="0">
                <a:latin typeface="Times New Roman"/>
                <a:cs typeface="Times New Roman"/>
              </a:rPr>
              <a:t>handcrafted</a:t>
            </a:r>
            <a:r>
              <a:rPr lang="en-US" sz="1600" spc="200" dirty="0">
                <a:latin typeface="Times New Roman"/>
                <a:cs typeface="Times New Roman"/>
              </a:rPr>
              <a:t> </a:t>
            </a:r>
            <a:r>
              <a:rPr lang="en-US" sz="1600" dirty="0">
                <a:latin typeface="Times New Roman"/>
                <a:cs typeface="Times New Roman"/>
              </a:rPr>
              <a:t>features</a:t>
            </a:r>
            <a:r>
              <a:rPr lang="en-US" sz="1600" spc="204" dirty="0">
                <a:latin typeface="Times New Roman"/>
                <a:cs typeface="Times New Roman"/>
              </a:rPr>
              <a:t> </a:t>
            </a:r>
            <a:r>
              <a:rPr lang="en-US" sz="1600" dirty="0">
                <a:latin typeface="Times New Roman"/>
                <a:cs typeface="Times New Roman"/>
              </a:rPr>
              <a:t>extracted</a:t>
            </a:r>
            <a:r>
              <a:rPr lang="en-US" sz="1600" spc="200" dirty="0">
                <a:latin typeface="Times New Roman"/>
                <a:cs typeface="Times New Roman"/>
              </a:rPr>
              <a:t> </a:t>
            </a:r>
            <a:r>
              <a:rPr lang="en-US" sz="1600" dirty="0">
                <a:latin typeface="Times New Roman"/>
                <a:cs typeface="Times New Roman"/>
              </a:rPr>
              <a:t>from</a:t>
            </a:r>
            <a:r>
              <a:rPr lang="en-US" sz="1600" spc="200" dirty="0">
                <a:latin typeface="Times New Roman"/>
                <a:cs typeface="Times New Roman"/>
              </a:rPr>
              <a:t> </a:t>
            </a:r>
            <a:r>
              <a:rPr lang="en-US" sz="1600" dirty="0">
                <a:latin typeface="Times New Roman"/>
                <a:cs typeface="Times New Roman"/>
              </a:rPr>
              <a:t>protein</a:t>
            </a:r>
            <a:r>
              <a:rPr lang="en-US" sz="1600" spc="200" dirty="0">
                <a:latin typeface="Times New Roman"/>
                <a:cs typeface="Times New Roman"/>
              </a:rPr>
              <a:t> </a:t>
            </a:r>
            <a:r>
              <a:rPr lang="en-US" sz="1600" dirty="0">
                <a:latin typeface="Times New Roman"/>
                <a:cs typeface="Times New Roman"/>
              </a:rPr>
              <a:t>sequences,</a:t>
            </a:r>
            <a:r>
              <a:rPr lang="en-US" sz="1600" spc="204" dirty="0">
                <a:latin typeface="Times New Roman"/>
                <a:cs typeface="Times New Roman"/>
              </a:rPr>
              <a:t> </a:t>
            </a:r>
            <a:r>
              <a:rPr lang="en-US" sz="1600" dirty="0">
                <a:latin typeface="Times New Roman"/>
                <a:cs typeface="Times New Roman"/>
              </a:rPr>
              <a:t>such</a:t>
            </a:r>
            <a:r>
              <a:rPr lang="en-US" sz="1600" spc="200" dirty="0">
                <a:latin typeface="Times New Roman"/>
                <a:cs typeface="Times New Roman"/>
              </a:rPr>
              <a:t> </a:t>
            </a:r>
            <a:r>
              <a:rPr lang="en-US" sz="1600" spc="-25" dirty="0">
                <a:latin typeface="Times New Roman"/>
                <a:cs typeface="Times New Roman"/>
              </a:rPr>
              <a:t>as </a:t>
            </a:r>
            <a:r>
              <a:rPr lang="en-US" sz="1600" dirty="0">
                <a:latin typeface="Times New Roman"/>
                <a:cs typeface="Times New Roman"/>
              </a:rPr>
              <a:t>amino</a:t>
            </a:r>
            <a:r>
              <a:rPr lang="en-US" sz="1600" spc="5" dirty="0">
                <a:latin typeface="Times New Roman"/>
                <a:cs typeface="Times New Roman"/>
              </a:rPr>
              <a:t> </a:t>
            </a:r>
            <a:r>
              <a:rPr lang="en-US" sz="1600" dirty="0">
                <a:latin typeface="Times New Roman"/>
                <a:cs typeface="Times New Roman"/>
              </a:rPr>
              <a:t>acid</a:t>
            </a:r>
            <a:r>
              <a:rPr lang="en-US" sz="1600" spc="20" dirty="0">
                <a:latin typeface="Times New Roman"/>
                <a:cs typeface="Times New Roman"/>
              </a:rPr>
              <a:t> </a:t>
            </a:r>
            <a:r>
              <a:rPr lang="en-US" sz="1600" dirty="0">
                <a:latin typeface="Times New Roman"/>
                <a:cs typeface="Times New Roman"/>
              </a:rPr>
              <a:t>composition,</a:t>
            </a:r>
            <a:r>
              <a:rPr lang="en-US" sz="1600" spc="15" dirty="0">
                <a:latin typeface="Times New Roman"/>
                <a:cs typeface="Times New Roman"/>
              </a:rPr>
              <a:t> </a:t>
            </a:r>
            <a:r>
              <a:rPr lang="en-US" sz="1600" dirty="0">
                <a:latin typeface="Times New Roman"/>
                <a:cs typeface="Times New Roman"/>
              </a:rPr>
              <a:t>dipeptide</a:t>
            </a:r>
            <a:r>
              <a:rPr lang="en-US" sz="1600" spc="20" dirty="0">
                <a:latin typeface="Times New Roman"/>
                <a:cs typeface="Times New Roman"/>
              </a:rPr>
              <a:t> </a:t>
            </a:r>
            <a:r>
              <a:rPr lang="en-US" sz="1600" dirty="0">
                <a:latin typeface="Times New Roman"/>
                <a:cs typeface="Times New Roman"/>
              </a:rPr>
              <a:t>composition,</a:t>
            </a:r>
            <a:r>
              <a:rPr lang="en-US" sz="1600" spc="15" dirty="0">
                <a:latin typeface="Times New Roman"/>
                <a:cs typeface="Times New Roman"/>
              </a:rPr>
              <a:t> </a:t>
            </a:r>
            <a:r>
              <a:rPr lang="en-US" sz="1600" dirty="0">
                <a:latin typeface="Times New Roman"/>
                <a:cs typeface="Times New Roman"/>
              </a:rPr>
              <a:t>and</a:t>
            </a:r>
            <a:r>
              <a:rPr lang="en-US" sz="1600" spc="15" dirty="0">
                <a:latin typeface="Times New Roman"/>
                <a:cs typeface="Times New Roman"/>
              </a:rPr>
              <a:t> </a:t>
            </a:r>
            <a:r>
              <a:rPr lang="en-US" sz="1600" dirty="0">
                <a:latin typeface="Times New Roman"/>
                <a:cs typeface="Times New Roman"/>
              </a:rPr>
              <a:t>physicochemical</a:t>
            </a:r>
            <a:r>
              <a:rPr lang="en-US" sz="1600" spc="20" dirty="0">
                <a:latin typeface="Times New Roman"/>
                <a:cs typeface="Times New Roman"/>
              </a:rPr>
              <a:t> </a:t>
            </a:r>
            <a:r>
              <a:rPr lang="en-US" sz="1600" spc="-10" dirty="0">
                <a:latin typeface="Times New Roman"/>
                <a:cs typeface="Times New Roman"/>
              </a:rPr>
              <a:t>properties.</a:t>
            </a:r>
            <a:endParaRPr lang="en-US" sz="1600" dirty="0">
              <a:latin typeface="Times New Roman"/>
              <a:cs typeface="Times New Roman"/>
            </a:endParaRPr>
          </a:p>
          <a:p>
            <a:pPr algn="just">
              <a:lnSpc>
                <a:spcPct val="150000"/>
              </a:lnSpc>
            </a:pPr>
            <a:r>
              <a:rPr lang="en-US" sz="1600" dirty="0">
                <a:latin typeface="Times New Roman"/>
                <a:cs typeface="Times New Roman"/>
              </a:rPr>
              <a:t>Although</a:t>
            </a:r>
            <a:r>
              <a:rPr lang="en-US" sz="1600" spc="105" dirty="0">
                <a:latin typeface="Times New Roman"/>
                <a:cs typeface="Times New Roman"/>
              </a:rPr>
              <a:t>  </a:t>
            </a:r>
            <a:r>
              <a:rPr lang="en-US" sz="1600" dirty="0">
                <a:latin typeface="Times New Roman"/>
                <a:cs typeface="Times New Roman"/>
              </a:rPr>
              <a:t>these</a:t>
            </a:r>
            <a:r>
              <a:rPr lang="en-US" sz="1600" spc="100" dirty="0">
                <a:latin typeface="Times New Roman"/>
                <a:cs typeface="Times New Roman"/>
              </a:rPr>
              <a:t>  </a:t>
            </a:r>
            <a:r>
              <a:rPr lang="en-US" sz="1600" dirty="0">
                <a:latin typeface="Times New Roman"/>
                <a:cs typeface="Times New Roman"/>
              </a:rPr>
              <a:t>models</a:t>
            </a:r>
            <a:r>
              <a:rPr lang="en-US" sz="1600" spc="105" dirty="0">
                <a:latin typeface="Times New Roman"/>
                <a:cs typeface="Times New Roman"/>
              </a:rPr>
              <a:t>  </a:t>
            </a:r>
            <a:r>
              <a:rPr lang="en-US" sz="1600" dirty="0">
                <a:latin typeface="Times New Roman"/>
                <a:cs typeface="Times New Roman"/>
              </a:rPr>
              <a:t>provided</a:t>
            </a:r>
            <a:r>
              <a:rPr lang="en-US" sz="1600" spc="100" dirty="0">
                <a:latin typeface="Times New Roman"/>
                <a:cs typeface="Times New Roman"/>
              </a:rPr>
              <a:t>  </a:t>
            </a:r>
            <a:r>
              <a:rPr lang="en-US" sz="1600" dirty="0">
                <a:latin typeface="Times New Roman"/>
                <a:cs typeface="Times New Roman"/>
              </a:rPr>
              <a:t>decent</a:t>
            </a:r>
            <a:r>
              <a:rPr lang="en-US" sz="1600" spc="105" dirty="0">
                <a:latin typeface="Times New Roman"/>
                <a:cs typeface="Times New Roman"/>
              </a:rPr>
              <a:t>  </a:t>
            </a:r>
            <a:r>
              <a:rPr lang="en-US" sz="1600" dirty="0">
                <a:latin typeface="Times New Roman"/>
                <a:cs typeface="Times New Roman"/>
              </a:rPr>
              <a:t>performance,</a:t>
            </a:r>
            <a:r>
              <a:rPr lang="en-US" sz="1600" spc="105" dirty="0">
                <a:latin typeface="Times New Roman"/>
                <a:cs typeface="Times New Roman"/>
              </a:rPr>
              <a:t>  </a:t>
            </a:r>
            <a:r>
              <a:rPr lang="en-US" sz="1600" dirty="0">
                <a:latin typeface="Times New Roman"/>
                <a:cs typeface="Times New Roman"/>
              </a:rPr>
              <a:t>they</a:t>
            </a:r>
            <a:r>
              <a:rPr lang="en-US" sz="1600" spc="100" dirty="0">
                <a:latin typeface="Times New Roman"/>
                <a:cs typeface="Times New Roman"/>
              </a:rPr>
              <a:t>  </a:t>
            </a:r>
            <a:r>
              <a:rPr lang="en-US" sz="1600" dirty="0">
                <a:latin typeface="Times New Roman"/>
                <a:cs typeface="Times New Roman"/>
              </a:rPr>
              <a:t>struggled</a:t>
            </a:r>
            <a:r>
              <a:rPr lang="en-US" sz="1600" spc="105" dirty="0">
                <a:latin typeface="Times New Roman"/>
                <a:cs typeface="Times New Roman"/>
              </a:rPr>
              <a:t>  </a:t>
            </a:r>
            <a:r>
              <a:rPr lang="en-US" sz="1600" dirty="0">
                <a:latin typeface="Times New Roman"/>
                <a:cs typeface="Times New Roman"/>
              </a:rPr>
              <a:t>to</a:t>
            </a:r>
            <a:r>
              <a:rPr lang="en-US" sz="1600" spc="105" dirty="0">
                <a:latin typeface="Times New Roman"/>
                <a:cs typeface="Times New Roman"/>
              </a:rPr>
              <a:t>  </a:t>
            </a:r>
            <a:r>
              <a:rPr lang="en-US" sz="1600" dirty="0">
                <a:latin typeface="Times New Roman"/>
                <a:cs typeface="Times New Roman"/>
              </a:rPr>
              <a:t>capture</a:t>
            </a:r>
            <a:r>
              <a:rPr lang="en-US" sz="1600" spc="100" dirty="0">
                <a:latin typeface="Times New Roman"/>
                <a:cs typeface="Times New Roman"/>
              </a:rPr>
              <a:t>  </a:t>
            </a:r>
            <a:r>
              <a:rPr lang="en-US" sz="1600" dirty="0">
                <a:latin typeface="Times New Roman"/>
                <a:cs typeface="Times New Roman"/>
              </a:rPr>
              <a:t>long-</a:t>
            </a:r>
            <a:r>
              <a:rPr lang="en-US" sz="1600" spc="-20" dirty="0">
                <a:latin typeface="Times New Roman"/>
                <a:cs typeface="Times New Roman"/>
              </a:rPr>
              <a:t>term </a:t>
            </a:r>
            <a:r>
              <a:rPr lang="en-US" sz="1600" dirty="0">
                <a:latin typeface="Times New Roman"/>
                <a:cs typeface="Times New Roman"/>
              </a:rPr>
              <a:t>dependencies</a:t>
            </a:r>
            <a:r>
              <a:rPr lang="en-US" sz="1600" spc="455" dirty="0">
                <a:latin typeface="Times New Roman"/>
                <a:cs typeface="Times New Roman"/>
              </a:rPr>
              <a:t> </a:t>
            </a:r>
            <a:r>
              <a:rPr lang="en-US" sz="1600" dirty="0">
                <a:latin typeface="Times New Roman"/>
                <a:cs typeface="Times New Roman"/>
              </a:rPr>
              <a:t>and</a:t>
            </a:r>
            <a:r>
              <a:rPr lang="en-US" sz="1600" spc="459" dirty="0">
                <a:latin typeface="Times New Roman"/>
                <a:cs typeface="Times New Roman"/>
              </a:rPr>
              <a:t> </a:t>
            </a:r>
            <a:r>
              <a:rPr lang="en-US" sz="1600" dirty="0">
                <a:latin typeface="Times New Roman"/>
                <a:cs typeface="Times New Roman"/>
              </a:rPr>
              <a:t>complex</a:t>
            </a:r>
            <a:r>
              <a:rPr lang="en-US" sz="1600" spc="455" dirty="0">
                <a:latin typeface="Times New Roman"/>
                <a:cs typeface="Times New Roman"/>
              </a:rPr>
              <a:t> </a:t>
            </a:r>
            <a:r>
              <a:rPr lang="en-US" sz="1600" dirty="0">
                <a:latin typeface="Times New Roman"/>
                <a:cs typeface="Times New Roman"/>
              </a:rPr>
              <a:t>patterns</a:t>
            </a:r>
            <a:r>
              <a:rPr lang="en-US" sz="1600" spc="455" dirty="0">
                <a:latin typeface="Times New Roman"/>
                <a:cs typeface="Times New Roman"/>
              </a:rPr>
              <a:t> </a:t>
            </a:r>
            <a:r>
              <a:rPr lang="en-US" sz="1600" dirty="0">
                <a:latin typeface="Times New Roman"/>
                <a:cs typeface="Times New Roman"/>
              </a:rPr>
              <a:t>in</a:t>
            </a:r>
            <a:r>
              <a:rPr lang="en-US" sz="1600" spc="459" dirty="0">
                <a:latin typeface="Times New Roman"/>
                <a:cs typeface="Times New Roman"/>
              </a:rPr>
              <a:t> </a:t>
            </a:r>
            <a:r>
              <a:rPr lang="en-US" sz="1600" dirty="0">
                <a:latin typeface="Times New Roman"/>
                <a:cs typeface="Times New Roman"/>
              </a:rPr>
              <a:t>sequential</a:t>
            </a:r>
            <a:r>
              <a:rPr lang="en-US" sz="1600" spc="455" dirty="0">
                <a:latin typeface="Times New Roman"/>
                <a:cs typeface="Times New Roman"/>
              </a:rPr>
              <a:t> </a:t>
            </a:r>
            <a:r>
              <a:rPr lang="en-US" sz="1600" dirty="0">
                <a:latin typeface="Times New Roman"/>
                <a:cs typeface="Times New Roman"/>
              </a:rPr>
              <a:t>data,</a:t>
            </a:r>
            <a:r>
              <a:rPr lang="en-US" sz="1600" spc="455" dirty="0">
                <a:latin typeface="Times New Roman"/>
                <a:cs typeface="Times New Roman"/>
              </a:rPr>
              <a:t> </a:t>
            </a:r>
            <a:r>
              <a:rPr lang="en-US" sz="1600" dirty="0">
                <a:latin typeface="Times New Roman"/>
                <a:cs typeface="Times New Roman"/>
              </a:rPr>
              <a:t>which</a:t>
            </a:r>
            <a:r>
              <a:rPr lang="en-US" sz="1600" spc="459" dirty="0">
                <a:latin typeface="Times New Roman"/>
                <a:cs typeface="Times New Roman"/>
              </a:rPr>
              <a:t> </a:t>
            </a:r>
            <a:r>
              <a:rPr lang="en-US" sz="1600" dirty="0">
                <a:latin typeface="Times New Roman"/>
                <a:cs typeface="Times New Roman"/>
              </a:rPr>
              <a:t>are</a:t>
            </a:r>
            <a:r>
              <a:rPr lang="en-US" sz="1600" spc="455" dirty="0">
                <a:latin typeface="Times New Roman"/>
                <a:cs typeface="Times New Roman"/>
              </a:rPr>
              <a:t> </a:t>
            </a:r>
            <a:r>
              <a:rPr lang="en-US" sz="1600" dirty="0">
                <a:latin typeface="Times New Roman"/>
                <a:cs typeface="Times New Roman"/>
              </a:rPr>
              <a:t>crucial</a:t>
            </a:r>
            <a:r>
              <a:rPr lang="en-US" sz="1600" spc="455" dirty="0">
                <a:latin typeface="Times New Roman"/>
                <a:cs typeface="Times New Roman"/>
              </a:rPr>
              <a:t> </a:t>
            </a:r>
            <a:r>
              <a:rPr lang="en-US" sz="1600" dirty="0">
                <a:latin typeface="Times New Roman"/>
                <a:cs typeface="Times New Roman"/>
              </a:rPr>
              <a:t>for</a:t>
            </a:r>
            <a:r>
              <a:rPr lang="en-US" sz="1600" spc="459" dirty="0">
                <a:latin typeface="Times New Roman"/>
                <a:cs typeface="Times New Roman"/>
              </a:rPr>
              <a:t> </a:t>
            </a:r>
            <a:r>
              <a:rPr lang="en-US" sz="1600" dirty="0">
                <a:latin typeface="Times New Roman"/>
                <a:cs typeface="Times New Roman"/>
              </a:rPr>
              <a:t>accurate</a:t>
            </a:r>
            <a:r>
              <a:rPr lang="en-US" sz="1600" spc="455" dirty="0">
                <a:latin typeface="Times New Roman"/>
                <a:cs typeface="Times New Roman"/>
              </a:rPr>
              <a:t> </a:t>
            </a:r>
            <a:r>
              <a:rPr lang="en-US" sz="1600" spc="-10" dirty="0">
                <a:latin typeface="Times New Roman"/>
                <a:cs typeface="Times New Roman"/>
              </a:rPr>
              <a:t>protein </a:t>
            </a:r>
            <a:r>
              <a:rPr lang="en-US" sz="1600" dirty="0">
                <a:latin typeface="Times New Roman"/>
                <a:cs typeface="Times New Roman"/>
              </a:rPr>
              <a:t>family </a:t>
            </a:r>
            <a:r>
              <a:rPr lang="en-US" sz="1600" spc="-10" dirty="0">
                <a:latin typeface="Times New Roman"/>
                <a:cs typeface="Times New Roman"/>
              </a:rPr>
              <a:t>classification.</a:t>
            </a:r>
          </a:p>
          <a:p>
            <a:pPr algn="just">
              <a:lnSpc>
                <a:spcPct val="150000"/>
              </a:lnSpc>
              <a:buNone/>
            </a:pPr>
            <a:r>
              <a:rPr lang="en-US" sz="1600" b="1" dirty="0">
                <a:solidFill>
                  <a:srgbClr val="000000"/>
                </a:solidFill>
                <a:latin typeface="Times New Roman" panose="02020603050405020304" pitchFamily="18" charset="0"/>
                <a:cs typeface="Times New Roman" panose="02020603050405020304" pitchFamily="18" charset="0"/>
              </a:rPr>
              <a:t>DISADVANTAGES :-</a:t>
            </a: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Manual Feature Engineering: </a:t>
            </a:r>
            <a:r>
              <a:rPr lang="en-US" sz="1600" dirty="0">
                <a:latin typeface="Times New Roman" panose="02020603050405020304" pitchFamily="18" charset="0"/>
                <a:cs typeface="Times New Roman" panose="02020603050405020304" pitchFamily="18" charset="0"/>
              </a:rPr>
              <a:t>Requires time-consuming manual extraction of protein sequence features.</a:t>
            </a:r>
            <a:r>
              <a:rPr lang="en-US" sz="1600" dirty="0">
                <a:solidFill>
                  <a:srgbClr val="000000"/>
                </a:solidFill>
                <a:latin typeface="Times New Roman" panose="02020603050405020304" pitchFamily="18" charset="0"/>
                <a:cs typeface="Times New Roman" panose="02020603050405020304" pitchFamily="18" charset="0"/>
              </a:rPr>
              <a:t>.</a:t>
            </a:r>
            <a:endParaRPr lang="en-US" sz="1600" b="1"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IN" sz="1600" b="1" dirty="0">
                <a:latin typeface="Times New Roman" panose="02020603050405020304" pitchFamily="18" charset="0"/>
                <a:cs typeface="Times New Roman" panose="02020603050405020304" pitchFamily="18" charset="0"/>
              </a:rPr>
              <a:t>Poor Sequence Learning</a:t>
            </a:r>
            <a:r>
              <a:rPr lang="en-US" sz="1600" b="1" dirty="0">
                <a:solidFill>
                  <a:srgbClr val="00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Traditional models cannot capture long-term dependencies in protein sequences.</a:t>
            </a:r>
          </a:p>
          <a:p>
            <a:pPr algn="just">
              <a:lnSpc>
                <a:spcPct val="150000"/>
              </a:lnSpc>
            </a:pPr>
            <a:r>
              <a:rPr lang="en-IN" sz="1600" b="1" dirty="0">
                <a:latin typeface="Times New Roman" panose="02020603050405020304" pitchFamily="18" charset="0"/>
                <a:cs typeface="Times New Roman" panose="02020603050405020304" pitchFamily="18" charset="0"/>
              </a:rPr>
              <a:t>Low Accuracy &amp; Scalability </a:t>
            </a:r>
            <a:r>
              <a:rPr lang="en-US" sz="1600" b="1" dirty="0">
                <a:solidFill>
                  <a:srgbClr val="000000"/>
                </a:solidFill>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Struggles with large datasets and complex biological data.</a:t>
            </a:r>
            <a:r>
              <a:rPr lang="en-US" sz="1600" dirty="0">
                <a:solidFill>
                  <a:srgbClr val="000000"/>
                </a:solidFill>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Limited Scalability:</a:t>
            </a:r>
            <a:r>
              <a:rPr lang="en-US" sz="1600" dirty="0">
                <a:solidFill>
                  <a:srgbClr val="000000"/>
                </a:solidFill>
                <a:latin typeface="Times New Roman" panose="02020603050405020304" pitchFamily="18" charset="0"/>
                <a:cs typeface="Times New Roman" panose="02020603050405020304" pitchFamily="18" charset="0"/>
              </a:rPr>
              <a:t> Fails to handle the exponential growth of sequence data efficiently.</a:t>
            </a: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No End-to-End </a:t>
            </a:r>
            <a:r>
              <a:rPr lang="en-US" sz="1600" b="1" dirty="0" err="1">
                <a:solidFill>
                  <a:srgbClr val="000000"/>
                </a:solidFill>
                <a:latin typeface="Times New Roman" panose="02020603050405020304" pitchFamily="18" charset="0"/>
                <a:cs typeface="Times New Roman" panose="02020603050405020304" pitchFamily="18" charset="0"/>
              </a:rPr>
              <a:t>Learning:</a:t>
            </a:r>
            <a:r>
              <a:rPr lang="en-US" sz="1600" dirty="0" err="1">
                <a:latin typeface="Times New Roman" panose="02020603050405020304" pitchFamily="18" charset="0"/>
                <a:cs typeface="Times New Roman" panose="02020603050405020304" pitchFamily="18" charset="0"/>
              </a:rPr>
              <a:t>Needs</a:t>
            </a:r>
            <a:r>
              <a:rPr lang="en-US" sz="1600" dirty="0">
                <a:latin typeface="Times New Roman" panose="02020603050405020304" pitchFamily="18" charset="0"/>
                <a:cs typeface="Times New Roman" panose="02020603050405020304" pitchFamily="18" charset="0"/>
              </a:rPr>
              <a:t> separate steps for feature extraction and classification.</a:t>
            </a:r>
          </a:p>
          <a:p>
            <a:pPr marL="342900" indent="-342900" algn="just">
              <a:lnSpc>
                <a:spcPct val="150000"/>
              </a:lnSpc>
            </a:pPr>
            <a:endParaRPr lang="en-US" sz="1600" spc="-1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71450"/>
            <a:ext cx="9905998" cy="1451610"/>
          </a:xfrm>
        </p:spPr>
        <p:txBody>
          <a:bodyPr/>
          <a:lstStyle/>
          <a:p>
            <a:r>
              <a:rPr lang="en-IN" dirty="0"/>
              <a:t>                     </a:t>
            </a:r>
            <a:r>
              <a:rPr lang="en-IN" sz="2800"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632905" y="968693"/>
            <a:ext cx="10926189" cy="5614987"/>
          </a:xfrm>
        </p:spPr>
        <p:txBody>
          <a:bodyPr>
            <a:normAutofit lnSpcReduction="10000"/>
          </a:bodyPr>
          <a:lstStyle/>
          <a:p>
            <a:pPr algn="just">
              <a:lnSpc>
                <a:spcPct val="150000"/>
              </a:lnSpc>
            </a:pPr>
            <a:r>
              <a:rPr lang="en-US" sz="1600" dirty="0">
                <a:solidFill>
                  <a:srgbClr val="000000"/>
                </a:solidFill>
                <a:latin typeface="Times New Roman" panose="02020603050405020304" pitchFamily="18" charset="0"/>
                <a:cs typeface="Times New Roman" panose="02020603050405020304" pitchFamily="18" charset="0"/>
              </a:rPr>
              <a:t>The proposed system is a deep learning-based framework </a:t>
            </a:r>
            <a:r>
              <a:rPr lang="en-US" sz="1600" dirty="0">
                <a:latin typeface="Times New Roman" panose="02020603050405020304" pitchFamily="18" charset="0"/>
                <a:cs typeface="Times New Roman" panose="02020603050405020304" pitchFamily="18" charset="0"/>
              </a:rPr>
              <a:t>The system uses RNN, LSTM, and GRU models to classify protein families from raw protein sequences.</a:t>
            </a:r>
          </a:p>
          <a:p>
            <a:pPr algn="just">
              <a:lnSpc>
                <a:spcPct val="150000"/>
              </a:lnSpc>
            </a:pPr>
            <a:r>
              <a:rPr lang="en-IN" sz="1600" dirty="0">
                <a:latin typeface="Times New Roman" panose="02020603050405020304" pitchFamily="18" charset="0"/>
                <a:cs typeface="Times New Roman" panose="02020603050405020304" pitchFamily="18" charset="0"/>
              </a:rPr>
              <a:t>Dataset and Feature Processing is </a:t>
            </a:r>
            <a:r>
              <a:rPr lang="en-US" sz="1600" dirty="0">
                <a:latin typeface="Times New Roman" panose="02020603050405020304" pitchFamily="18" charset="0"/>
                <a:cs typeface="Times New Roman" panose="02020603050405020304" pitchFamily="18" charset="0"/>
              </a:rPr>
              <a:t>Protein sequences from the </a:t>
            </a:r>
            <a:r>
              <a:rPr lang="en-US" sz="1600" dirty="0" err="1">
                <a:latin typeface="Times New Roman" panose="02020603050405020304" pitchFamily="18" charset="0"/>
                <a:cs typeface="Times New Roman" panose="02020603050405020304" pitchFamily="18" charset="0"/>
              </a:rPr>
              <a:t>SideChainNet</a:t>
            </a:r>
            <a:r>
              <a:rPr lang="en-US" sz="1600" dirty="0">
                <a:latin typeface="Times New Roman" panose="02020603050405020304" pitchFamily="18" charset="0"/>
                <a:cs typeface="Times New Roman" panose="02020603050405020304" pitchFamily="18" charset="0"/>
              </a:rPr>
              <a:t> CASP dataset are processed using Google </a:t>
            </a:r>
            <a:r>
              <a:rPr lang="en-US" sz="1600" dirty="0" err="1">
                <a:latin typeface="Times New Roman" panose="02020603050405020304" pitchFamily="18" charset="0"/>
                <a:cs typeface="Times New Roman" panose="02020603050405020304" pitchFamily="18" charset="0"/>
              </a:rPr>
              <a:t>Colab</a:t>
            </a:r>
            <a:r>
              <a:rPr lang="en-US" sz="1600" dirty="0">
                <a:latin typeface="Times New Roman" panose="02020603050405020304" pitchFamily="18" charset="0"/>
                <a:cs typeface="Times New Roman" panose="02020603050405020304" pitchFamily="18" charset="0"/>
              </a:rPr>
              <a:t> GPU and saved in NumPy format.</a:t>
            </a:r>
          </a:p>
          <a:p>
            <a:pPr algn="just">
              <a:lnSpc>
                <a:spcPct val="150000"/>
              </a:lnSpc>
            </a:pPr>
            <a:r>
              <a:rPr lang="en-IN" sz="1600" dirty="0">
                <a:latin typeface="Times New Roman" panose="02020603050405020304" pitchFamily="18" charset="0"/>
                <a:cs typeface="Times New Roman" panose="02020603050405020304" pitchFamily="18" charset="0"/>
              </a:rPr>
              <a:t>User-Friendly System Modules as </a:t>
            </a:r>
            <a:r>
              <a:rPr lang="en-US" sz="1600" dirty="0">
                <a:latin typeface="Times New Roman" panose="02020603050405020304" pitchFamily="18" charset="0"/>
                <a:cs typeface="Times New Roman" panose="02020603050405020304" pitchFamily="18" charset="0"/>
              </a:rPr>
              <a:t>The system includes registration, login, dataset processing, model training, and test sequence classification modules.</a:t>
            </a:r>
            <a:endParaRPr lang="en-US" sz="1600" b="1" dirty="0">
              <a:solidFill>
                <a:srgbClr val="000000"/>
              </a:solidFill>
              <a:latin typeface="Times New Roman" panose="02020603050405020304" pitchFamily="18" charset="0"/>
              <a:cs typeface="Times New Roman" panose="02020603050405020304" pitchFamily="18" charset="0"/>
            </a:endParaRPr>
          </a:p>
          <a:p>
            <a:pPr algn="just">
              <a:lnSpc>
                <a:spcPct val="150000"/>
              </a:lnSpc>
              <a:buNone/>
            </a:pPr>
            <a:r>
              <a:rPr lang="en-US" sz="1600" b="1" dirty="0">
                <a:solidFill>
                  <a:srgbClr val="000000"/>
                </a:solidFill>
                <a:latin typeface="Times New Roman" panose="02020603050405020304" pitchFamily="18" charset="0"/>
                <a:cs typeface="Times New Roman" panose="02020603050405020304" pitchFamily="18" charset="0"/>
              </a:rPr>
              <a:t>ADVANTAGES:-</a:t>
            </a: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Automated Feature Extraction: </a:t>
            </a:r>
            <a:r>
              <a:rPr lang="en-US" sz="1600" dirty="0">
                <a:latin typeface="Times New Roman" panose="02020603050405020304" pitchFamily="18" charset="0"/>
                <a:cs typeface="Times New Roman" panose="02020603050405020304" pitchFamily="18" charset="0"/>
              </a:rPr>
              <a:t>Models automatically extract features from protein sequences and capture complex patterns.</a:t>
            </a:r>
            <a:endParaRPr lang="en-US" sz="1600" b="1"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Effective Sequence Learning: </a:t>
            </a:r>
            <a:r>
              <a:rPr lang="en-US" sz="1600" dirty="0">
                <a:solidFill>
                  <a:srgbClr val="000000"/>
                </a:solidFill>
                <a:latin typeface="Times New Roman" panose="02020603050405020304" pitchFamily="18" charset="0"/>
                <a:cs typeface="Times New Roman" panose="02020603050405020304" pitchFamily="18" charset="0"/>
              </a:rPr>
              <a:t>Accurately captures long-term dependencies and complex patterns within protein data using RNNs, LSTMs, and GRUs.</a:t>
            </a: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High Accuracy and Reliability: </a:t>
            </a:r>
            <a:r>
              <a:rPr lang="en-US" sz="1600" dirty="0">
                <a:latin typeface="Times New Roman" panose="02020603050405020304" pitchFamily="18" charset="0"/>
                <a:cs typeface="Times New Roman" panose="02020603050405020304" pitchFamily="18" charset="0"/>
              </a:rPr>
              <a:t>Provides improved accuracy, precision, recall, and F-score compared to traditional methods.</a:t>
            </a: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Scalable and</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Efficient</a:t>
            </a:r>
            <a:r>
              <a:rPr lang="en-IN" sz="1600" dirty="0">
                <a:latin typeface="Times New Roman" panose="02020603050405020304" pitchFamily="18" charset="0"/>
                <a:cs typeface="Times New Roman" panose="02020603050405020304" pitchFamily="18" charset="0"/>
              </a:rPr>
              <a:t> </a:t>
            </a:r>
            <a:r>
              <a:rPr lang="en-US" sz="1600" b="1" dirty="0">
                <a:solidFill>
                  <a:srgbClr val="000000"/>
                </a:solidFill>
                <a:latin typeface="Times New Roman" panose="02020603050405020304" pitchFamily="18" charset="0"/>
                <a:cs typeface="Times New Roman" panose="02020603050405020304" pitchFamily="18" charset="0"/>
              </a:rPr>
              <a:t>:</a:t>
            </a:r>
            <a:r>
              <a:rPr lang="en-US" sz="1600" dirty="0">
                <a:solidFill>
                  <a:srgbClr val="00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Handles large datasets efficiently and allows reuse of extracted features.</a:t>
            </a:r>
          </a:p>
          <a:p>
            <a:pPr algn="just">
              <a:lnSpc>
                <a:spcPct val="150000"/>
              </a:lnSpc>
            </a:pPr>
            <a:r>
              <a:rPr lang="en-US" sz="1600" b="1" dirty="0">
                <a:solidFill>
                  <a:srgbClr val="000000"/>
                </a:solidFill>
                <a:latin typeface="Times New Roman" panose="02020603050405020304" pitchFamily="18" charset="0"/>
                <a:cs typeface="Times New Roman" panose="02020603050405020304" pitchFamily="18" charset="0"/>
              </a:rPr>
              <a:t>End-to-End </a:t>
            </a:r>
            <a:r>
              <a:rPr lang="en-IN" sz="1600" b="1" dirty="0">
                <a:latin typeface="Times New Roman" panose="02020603050405020304" pitchFamily="18" charset="0"/>
                <a:cs typeface="Times New Roman" panose="02020603050405020304" pitchFamily="18" charset="0"/>
              </a:rPr>
              <a:t>System</a:t>
            </a:r>
            <a:r>
              <a:rPr lang="en-IN" sz="1600"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Provides a complete pipeline from data processing to protein family classification.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8D56-B891-E2E0-B005-23DA19AABB3C}"/>
              </a:ext>
            </a:extLst>
          </p:cNvPr>
          <p:cNvSpPr>
            <a:spLocks noGrp="1"/>
          </p:cNvSpPr>
          <p:nvPr>
            <p:ph type="title"/>
          </p:nvPr>
        </p:nvSpPr>
        <p:spPr>
          <a:xfrm>
            <a:off x="720213" y="-116656"/>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FEASABILITY STUDY</a:t>
            </a:r>
          </a:p>
        </p:txBody>
      </p:sp>
      <p:sp>
        <p:nvSpPr>
          <p:cNvPr id="3" name="Content Placeholder 2">
            <a:extLst>
              <a:ext uri="{FF2B5EF4-FFF2-40B4-BE49-F238E27FC236}">
                <a16:creationId xmlns:a16="http://schemas.microsoft.com/office/drawing/2014/main" id="{AC3662E7-67FC-CFFB-22B3-9B2F9A642AAB}"/>
              </a:ext>
            </a:extLst>
          </p:cNvPr>
          <p:cNvSpPr>
            <a:spLocks noGrp="1"/>
          </p:cNvSpPr>
          <p:nvPr>
            <p:ph idx="1"/>
          </p:nvPr>
        </p:nvSpPr>
        <p:spPr>
          <a:xfrm>
            <a:off x="838200" y="1208907"/>
            <a:ext cx="10397613" cy="5516358"/>
          </a:xfrm>
        </p:spPr>
        <p:txBody>
          <a:bodyPr>
            <a:normAutofit/>
          </a:bodyPr>
          <a:lstStyle/>
          <a:p>
            <a:pPr marL="342900" marR="0" lvl="0" indent="-342900" algn="just" defTabSz="914400" rtl="0" eaLnBrk="1" fontAlgn="auto" latinLnBrk="0" hangingPunct="1">
              <a:lnSpc>
                <a:spcPct val="150000"/>
              </a:lnSpc>
              <a:spcBef>
                <a:spcPts val="0"/>
              </a:spcBef>
              <a:spcAft>
                <a:spcPts val="0"/>
              </a:spcAft>
              <a:buClrTx/>
              <a:buSzTx/>
              <a:buFontTx/>
              <a:buAutoNum type="arabicPeriod"/>
              <a:tabLst/>
              <a:defRPr/>
            </a:pPr>
            <a:r>
              <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TECHNICAL FEASIBILITY :</a:t>
            </a:r>
          </a:p>
          <a:p>
            <a:pPr marL="0" lvl="0" indent="0" algn="just">
              <a:lnSpc>
                <a:spcPct val="150000"/>
              </a:lnSpc>
              <a:spcBef>
                <a:spcPts val="0"/>
              </a:spcBef>
              <a:buNone/>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The system uses Python, TensorFlow/</a:t>
            </a:r>
            <a:r>
              <a:rPr lang="en-IN" sz="1800" dirty="0" err="1">
                <a:latin typeface="Times New Roman" panose="02020603050405020304" pitchFamily="18" charset="0"/>
                <a:cs typeface="Times New Roman" panose="02020603050405020304" pitchFamily="18" charset="0"/>
              </a:rPr>
              <a:t>PyTorch</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Keras</a:t>
            </a:r>
            <a:r>
              <a:rPr lang="en-IN" sz="1800" dirty="0">
                <a:latin typeface="Times New Roman" panose="02020603050405020304" pitchFamily="18" charset="0"/>
                <a:cs typeface="Times New Roman" panose="02020603050405020304" pitchFamily="18" charset="0"/>
              </a:rPr>
              <a:t>, NumPy, and Scikit-learn. The </a:t>
            </a:r>
            <a:r>
              <a:rPr lang="en-IN" sz="1800" dirty="0" err="1">
                <a:latin typeface="Times New Roman" panose="02020603050405020304" pitchFamily="18" charset="0"/>
                <a:cs typeface="Times New Roman" panose="02020603050405020304" pitchFamily="18" charset="0"/>
              </a:rPr>
              <a:t>SideChainNet</a:t>
            </a:r>
            <a:r>
              <a:rPr lang="en-IN" sz="1800" dirty="0">
                <a:latin typeface="Times New Roman" panose="02020603050405020304" pitchFamily="18" charset="0"/>
                <a:cs typeface="Times New Roman" panose="02020603050405020304" pitchFamily="18" charset="0"/>
              </a:rPr>
              <a:t> (CASP) dataset is used with GPU support from Google </a:t>
            </a:r>
            <a:r>
              <a:rPr lang="en-IN" sz="1800" dirty="0" err="1">
                <a:latin typeface="Times New Roman" panose="02020603050405020304" pitchFamily="18" charset="0"/>
                <a:cs typeface="Times New Roman" panose="02020603050405020304" pitchFamily="18" charset="0"/>
              </a:rPr>
              <a:t>Colab</a:t>
            </a:r>
            <a:r>
              <a:rPr lang="en-IN" sz="1800" dirty="0">
                <a:latin typeface="Times New Roman" panose="02020603050405020304" pitchFamily="18" charset="0"/>
                <a:cs typeface="Times New Roman" panose="02020603050405020304" pitchFamily="18" charset="0"/>
              </a:rPr>
              <a:t>, and deep learning models handle sequential biological data efficiently.</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OPERATIONAL FEASIBILITY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The system provides an easy-to-use interface using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Streamlit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or Flask. It supports user registration, dataset upload, model training, and prediction. The platform is designed for students, researchers, and bioinformaticians.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3.   ECONOMIC FEASIBILITY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No high-cost infrastructure is required, as the system uses open-source tools and free cloud GPU services, with minimal hardware requirements like 4GB RAM and an i3 processor.</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9951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686" y="158330"/>
            <a:ext cx="11264627" cy="994680"/>
          </a:xfrm>
        </p:spPr>
        <p:txBody>
          <a:bodyPr/>
          <a:lstStyle/>
          <a:p>
            <a:pPr>
              <a:lnSpc>
                <a:spcPct val="100000"/>
              </a:lnSpc>
            </a:pPr>
            <a:r>
              <a:rPr lang="en-IN" sz="2800" b="1" dirty="0">
                <a:latin typeface="Times New Roman" panose="02020603050405020304" pitchFamily="18" charset="0"/>
                <a:cs typeface="Times New Roman" panose="02020603050405020304" pitchFamily="18" charset="0"/>
              </a:rPr>
              <a:t>HARDWARE REQUIREMENTS AND SOFTWARE REQUIREMENTS</a:t>
            </a:r>
          </a:p>
        </p:txBody>
      </p:sp>
      <p:sp>
        <p:nvSpPr>
          <p:cNvPr id="5" name="TextBox 4">
            <a:extLst>
              <a:ext uri="{FF2B5EF4-FFF2-40B4-BE49-F238E27FC236}">
                <a16:creationId xmlns:a16="http://schemas.microsoft.com/office/drawing/2014/main" id="{6E838513-D17B-79BC-3594-0DF410CF3E34}"/>
              </a:ext>
            </a:extLst>
          </p:cNvPr>
          <p:cNvSpPr txBox="1"/>
          <p:nvPr/>
        </p:nvSpPr>
        <p:spPr>
          <a:xfrm>
            <a:off x="3048000" y="3199963"/>
            <a:ext cx="6096000" cy="458074"/>
          </a:xfrm>
          <a:prstGeom prst="rect">
            <a:avLst/>
          </a:prstGeom>
          <a:noFill/>
        </p:spPr>
        <p:txBody>
          <a:bodyPr wrap="square">
            <a:spAutoFit/>
          </a:bodyPr>
          <a:lstStyle/>
          <a:p>
            <a:pPr marL="75565" indent="0" algn="just">
              <a:lnSpc>
                <a:spcPct val="150000"/>
              </a:lnSpc>
              <a:buNone/>
            </a:pPr>
            <a:endParaRPr lang="en-US" sz="1800" b="1" dirty="0">
              <a:effectLst/>
              <a:latin typeface="Times New Roman" panose="02020603050405020304" pitchFamily="18" charset="0"/>
              <a:cs typeface="Times New Roman" panose="02020603050405020304" pitchFamily="18" charset="0"/>
            </a:endParaRPr>
          </a:p>
        </p:txBody>
      </p:sp>
      <p:sp>
        <p:nvSpPr>
          <p:cNvPr id="4" name="Title 12">
            <a:extLst>
              <a:ext uri="{FF2B5EF4-FFF2-40B4-BE49-F238E27FC236}">
                <a16:creationId xmlns:a16="http://schemas.microsoft.com/office/drawing/2014/main" id="{F352392C-B846-348B-EF73-C88E6CF0EBDF}"/>
              </a:ext>
            </a:extLst>
          </p:cNvPr>
          <p:cNvSpPr txBox="1">
            <a:spLocks/>
          </p:cNvSpPr>
          <p:nvPr/>
        </p:nvSpPr>
        <p:spPr>
          <a:xfrm>
            <a:off x="1615440" y="1153010"/>
            <a:ext cx="7033915" cy="6404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latin typeface="Times New Roman" panose="02020603050405020304" pitchFamily="18" charset="0"/>
                <a:cs typeface="Times New Roman" panose="02020603050405020304" pitchFamily="18" charset="0"/>
              </a:rPr>
              <a:t>HARDWARE REQUIREMENTS</a:t>
            </a:r>
            <a:endParaRPr lang="en-IN" sz="2800" b="1" dirty="0"/>
          </a:p>
        </p:txBody>
      </p:sp>
      <p:sp>
        <p:nvSpPr>
          <p:cNvPr id="6" name="Content Placeholder 5">
            <a:extLst>
              <a:ext uri="{FF2B5EF4-FFF2-40B4-BE49-F238E27FC236}">
                <a16:creationId xmlns:a16="http://schemas.microsoft.com/office/drawing/2014/main" id="{13AEFCB1-A979-FE01-762A-4317CCE5381B}"/>
              </a:ext>
            </a:extLst>
          </p:cNvPr>
          <p:cNvSpPr txBox="1">
            <a:spLocks noGrp="1"/>
          </p:cNvSpPr>
          <p:nvPr>
            <p:ph idx="1"/>
          </p:nvPr>
        </p:nvSpPr>
        <p:spPr>
          <a:xfrm>
            <a:off x="1859280" y="1793461"/>
            <a:ext cx="10599420" cy="4512004"/>
          </a:xfrm>
          <a:prstGeom prst="rect">
            <a:avLst/>
          </a:prstGeom>
          <a:noFill/>
        </p:spPr>
        <p:txBody>
          <a:bodyPr wrap="square">
            <a:spAutoFit/>
          </a:bodyPr>
          <a:lstStyle/>
          <a:p>
            <a:pPr marL="342900" indent="-342900">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Processor - Intel Core i5 or above</a:t>
            </a:r>
          </a:p>
          <a:p>
            <a:pPr marL="342900" indent="-342900">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RAM - 8 GB (Minimum) </a:t>
            </a: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Hard Disk - 500 GB or higher</a:t>
            </a: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Mouse - Standard Optical Mouse</a:t>
            </a:r>
            <a:endParaRPr lang="en-US" sz="1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Monitor - Standard LED/LCD Monitor</a:t>
            </a:r>
          </a:p>
          <a:p>
            <a:pPr marL="342900" indent="-342900">
              <a:buFont typeface="Arial" panose="020B0604020202020204" pitchFamily="34" charset="0"/>
              <a:buChar char="•"/>
            </a:pPr>
            <a:endParaRPr lang="en-IN" sz="1600" dirty="0">
              <a:solidFill>
                <a:srgbClr val="000000"/>
              </a:solidFill>
              <a:latin typeface="Times New Roman" panose="02020603050405020304" pitchFamily="18" charset="0"/>
              <a:cs typeface="Times New Roman" panose="02020603050405020304" pitchFamily="18" charset="0"/>
            </a:endParaRPr>
          </a:p>
          <a:p>
            <a:pPr marL="0" indent="0">
              <a:buNone/>
            </a:pP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Operating System : Windows 10/11 or Linux (e.g., Ubuntu)</a:t>
            </a: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Coding Language : Python (3.7 or higher)</a:t>
            </a: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Front-End : </a:t>
            </a:r>
            <a:r>
              <a:rPr lang="en-IN" sz="1600" i="0" dirty="0" err="1">
                <a:solidFill>
                  <a:srgbClr val="000000"/>
                </a:solidFill>
                <a:effectLst/>
                <a:latin typeface="Times New Roman" panose="02020603050405020304" pitchFamily="18" charset="0"/>
                <a:cs typeface="Times New Roman" panose="02020603050405020304" pitchFamily="18" charset="0"/>
              </a:rPr>
              <a:t>Streamlit</a:t>
            </a:r>
            <a:r>
              <a:rPr lang="en-IN" sz="1600" i="0" dirty="0">
                <a:solidFill>
                  <a:srgbClr val="000000"/>
                </a:solidFill>
                <a:effectLst/>
                <a:latin typeface="Times New Roman" panose="02020603050405020304" pitchFamily="18" charset="0"/>
                <a:cs typeface="Times New Roman" panose="02020603050405020304" pitchFamily="18" charset="0"/>
              </a:rPr>
              <a:t> / Flask (for UI)</a:t>
            </a: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Back -End : TensorFlow or </a:t>
            </a:r>
            <a:r>
              <a:rPr lang="en-IN" sz="1600" i="0" dirty="0" err="1">
                <a:solidFill>
                  <a:srgbClr val="000000"/>
                </a:solidFill>
                <a:effectLst/>
                <a:latin typeface="Times New Roman" panose="02020603050405020304" pitchFamily="18" charset="0"/>
                <a:cs typeface="Times New Roman" panose="02020603050405020304" pitchFamily="18" charset="0"/>
              </a:rPr>
              <a:t>PyTorch</a:t>
            </a: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Framework : </a:t>
            </a:r>
            <a:r>
              <a:rPr lang="en-IN" sz="1600" i="0" dirty="0" err="1">
                <a:solidFill>
                  <a:srgbClr val="000000"/>
                </a:solidFill>
                <a:effectLst/>
                <a:latin typeface="Times New Roman" panose="02020603050405020304" pitchFamily="18" charset="0"/>
                <a:cs typeface="Times New Roman" panose="02020603050405020304" pitchFamily="18" charset="0"/>
              </a:rPr>
              <a:t>Keras</a:t>
            </a:r>
            <a:r>
              <a:rPr lang="en-IN" sz="1600" i="0" dirty="0">
                <a:solidFill>
                  <a:srgbClr val="000000"/>
                </a:solidFill>
                <a:effectLst/>
                <a:latin typeface="Times New Roman" panose="02020603050405020304" pitchFamily="18" charset="0"/>
                <a:cs typeface="Times New Roman" panose="02020603050405020304" pitchFamily="18" charset="0"/>
              </a:rPr>
              <a:t>, NumPy, Pandas, Scikit-learn</a:t>
            </a:r>
            <a:endParaRPr lang="en-IN" sz="1600" dirty="0">
              <a:effectLst/>
              <a:latin typeface="Times New Roman" panose="02020603050405020304" pitchFamily="18" charset="0"/>
              <a:cs typeface="Times New Roman" panose="02020603050405020304" pitchFamily="18" charset="0"/>
            </a:endParaRPr>
          </a:p>
          <a:p>
            <a:pPr marL="342900" indent="-342900" algn="just" rtl="0">
              <a:buFont typeface="Arial" panose="020B0604020202020204" pitchFamily="34" charset="0"/>
              <a:buChar char="•"/>
            </a:pPr>
            <a:r>
              <a:rPr lang="en-IN" sz="1600" i="0" dirty="0">
                <a:solidFill>
                  <a:srgbClr val="000000"/>
                </a:solidFill>
                <a:effectLst/>
                <a:latin typeface="Times New Roman" panose="02020603050405020304" pitchFamily="18" charset="0"/>
                <a:cs typeface="Times New Roman" panose="02020603050405020304" pitchFamily="18" charset="0"/>
              </a:rPr>
              <a:t>Data Base : Google </a:t>
            </a:r>
            <a:r>
              <a:rPr lang="en-IN" sz="1600" i="0" dirty="0" err="1">
                <a:solidFill>
                  <a:srgbClr val="000000"/>
                </a:solidFill>
                <a:effectLst/>
                <a:latin typeface="Times New Roman" panose="02020603050405020304" pitchFamily="18" charset="0"/>
                <a:cs typeface="Times New Roman" panose="02020603050405020304" pitchFamily="18" charset="0"/>
              </a:rPr>
              <a:t>Colab</a:t>
            </a:r>
            <a:r>
              <a:rPr lang="en-IN" sz="1600" i="0" dirty="0">
                <a:solidFill>
                  <a:srgbClr val="000000"/>
                </a:solidFill>
                <a:effectLst/>
                <a:latin typeface="Times New Roman" panose="02020603050405020304" pitchFamily="18" charset="0"/>
                <a:cs typeface="Times New Roman" panose="02020603050405020304" pitchFamily="18" charset="0"/>
              </a:rPr>
              <a:t> (for GPU), VS Code, or </a:t>
            </a:r>
            <a:r>
              <a:rPr lang="en-IN" sz="1600" i="0" dirty="0" err="1">
                <a:solidFill>
                  <a:srgbClr val="000000"/>
                </a:solidFill>
                <a:effectLst/>
                <a:latin typeface="Times New Roman" panose="02020603050405020304" pitchFamily="18" charset="0"/>
                <a:cs typeface="Times New Roman" panose="02020603050405020304" pitchFamily="18" charset="0"/>
              </a:rPr>
              <a:t>Jupyter</a:t>
            </a:r>
            <a:r>
              <a:rPr lang="en-IN" sz="1600" i="0" dirty="0">
                <a:solidFill>
                  <a:srgbClr val="000000"/>
                </a:solidFill>
                <a:effectLst/>
                <a:latin typeface="Times New Roman" panose="02020603050405020304" pitchFamily="18" charset="0"/>
                <a:cs typeface="Times New Roman" panose="02020603050405020304" pitchFamily="18" charset="0"/>
              </a:rPr>
              <a:t> Notebook</a:t>
            </a:r>
            <a:endParaRPr lang="en-IN" sz="1600" dirty="0">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5CA3F45-A77D-93DD-6205-DE0341179602}"/>
              </a:ext>
            </a:extLst>
          </p:cNvPr>
          <p:cNvSpPr txBox="1"/>
          <p:nvPr/>
        </p:nvSpPr>
        <p:spPr>
          <a:xfrm>
            <a:off x="1615440" y="3680131"/>
            <a:ext cx="6256020" cy="369332"/>
          </a:xfrm>
          <a:prstGeom prst="rect">
            <a:avLst/>
          </a:prstGeom>
          <a:noFill/>
        </p:spPr>
        <p:txBody>
          <a:bodyPr wrap="square">
            <a:spAutoFit/>
          </a:bodyPr>
          <a:lstStyle/>
          <a:p>
            <a:pPr marL="0" indent="0">
              <a:buNone/>
            </a:pPr>
            <a:r>
              <a:rPr lang="en-IN" sz="1800" b="1" i="0" dirty="0">
                <a:solidFill>
                  <a:srgbClr val="000000"/>
                </a:solidFill>
                <a:effectLst/>
                <a:latin typeface="Times New Roman" panose="02020603050405020304" pitchFamily="18" charset="0"/>
                <a:cs typeface="Times New Roman" panose="02020603050405020304" pitchFamily="18" charset="0"/>
              </a:rPr>
              <a:t>SOFTWARE REQUIREMENTS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FDDA-66AB-6742-807E-FE25D2CDADD9}"/>
              </a:ext>
            </a:extLst>
          </p:cNvPr>
          <p:cNvSpPr>
            <a:spLocks noGrp="1"/>
          </p:cNvSpPr>
          <p:nvPr>
            <p:ph type="title"/>
          </p:nvPr>
        </p:nvSpPr>
        <p:spPr>
          <a:xfrm>
            <a:off x="838200" y="205222"/>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SYSTEM ARCHITECTURE</a:t>
            </a:r>
            <a:r>
              <a:rPr lang="en-IN" sz="2800" b="1" dirty="0">
                <a:latin typeface="Times New Roman" panose="02020603050405020304" pitchFamily="18" charset="0"/>
                <a:cs typeface="Times New Roman" panose="02020603050405020304" pitchFamily="18" charset="0"/>
              </a:rPr>
              <a:t>/DESIGN</a:t>
            </a:r>
            <a:br>
              <a:rPr lang="en-IN" sz="2800"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BB155F1D-D26D-8423-1B74-637BAD7BFCBE}"/>
              </a:ext>
            </a:extLst>
          </p:cNvPr>
          <p:cNvPicPr>
            <a:picLocks noGrp="1" noChangeAspect="1"/>
          </p:cNvPicPr>
          <p:nvPr>
            <p:ph idx="1"/>
          </p:nvPr>
        </p:nvPicPr>
        <p:blipFill>
          <a:blip r:embed="rId2"/>
          <a:stretch>
            <a:fillRect/>
          </a:stretch>
        </p:blipFill>
        <p:spPr>
          <a:xfrm>
            <a:off x="3208020" y="1378385"/>
            <a:ext cx="6027420" cy="4848452"/>
          </a:xfrm>
          <a:prstGeom prst="rect">
            <a:avLst/>
          </a:prstGeom>
        </p:spPr>
      </p:pic>
    </p:spTree>
    <p:extLst>
      <p:ext uri="{BB962C8B-B14F-4D97-AF65-F5344CB8AC3E}">
        <p14:creationId xmlns:p14="http://schemas.microsoft.com/office/powerpoint/2010/main" val="179674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EF0A-32C8-DF50-E3C2-D9FC1D0E4502}"/>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MODULES USED</a:t>
            </a:r>
          </a:p>
        </p:txBody>
      </p:sp>
      <p:sp>
        <p:nvSpPr>
          <p:cNvPr id="3" name="Content Placeholder 2">
            <a:extLst>
              <a:ext uri="{FF2B5EF4-FFF2-40B4-BE49-F238E27FC236}">
                <a16:creationId xmlns:a16="http://schemas.microsoft.com/office/drawing/2014/main" id="{42CEC805-C88D-3FED-BC5A-32B87A92B94F}"/>
              </a:ext>
            </a:extLst>
          </p:cNvPr>
          <p:cNvSpPr>
            <a:spLocks noGrp="1"/>
          </p:cNvSpPr>
          <p:nvPr>
            <p:ph idx="1"/>
          </p:nvPr>
        </p:nvSpPr>
        <p:spPr>
          <a:xfrm>
            <a:off x="852488" y="1825625"/>
            <a:ext cx="10515600" cy="4351338"/>
          </a:xfrm>
        </p:spPr>
        <p:txBody>
          <a:bodyPr>
            <a:normAutofit/>
          </a:bodyPr>
          <a:lstStyle/>
          <a:p>
            <a:pPr marL="342900" marR="0" lvl="0" indent="-342900" algn="just">
              <a:lnSpc>
                <a:spcPct val="150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Dataset Upload</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Allows users to upload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TestSequence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latin typeface="Times New Roman" panose="02020603050405020304" pitchFamily="18" charset="0"/>
                <a:ea typeface="MS Mincho" panose="02020609040205080304" pitchFamily="49" charset="-128"/>
                <a:cs typeface="Times New Roman" panose="02020603050405020304" pitchFamily="18" charset="0"/>
              </a:rPr>
              <a:t>Dataset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for classification.</a:t>
            </a:r>
          </a:p>
          <a:p>
            <a:pPr marL="342900" marR="0" lvl="0" indent="-342900" algn="just">
              <a:lnSpc>
                <a:spcPct val="150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Preprocessing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Processes and normalizes the dataset for model training.</a:t>
            </a:r>
          </a:p>
          <a:p>
            <a:pPr marL="342900" marR="0" lvl="0" indent="-342900" algn="just">
              <a:lnSpc>
                <a:spcPct val="150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Model Training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Trains deep learning models like RNN, LSTM, and GRU.</a:t>
            </a:r>
          </a:p>
          <a:p>
            <a:pPr marL="342900" marR="0" lvl="0" indent="-342900" algn="just">
              <a:lnSpc>
                <a:spcPct val="150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Prediction Module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Predicts protein families from test sequences.</a:t>
            </a:r>
          </a:p>
          <a:p>
            <a:pPr marL="342900" marR="0" lvl="0" indent="-342900" algn="just">
              <a:lnSpc>
                <a:spcPct val="150000"/>
              </a:lnSpc>
              <a:spcBef>
                <a:spcPts val="0"/>
              </a:spcBef>
              <a:spcAft>
                <a:spcPts val="800"/>
              </a:spcAft>
              <a:buFont typeface="+mj-lt"/>
              <a:buAutoNum type="arabicPeriod"/>
              <a:tabLst>
                <a:tab pos="457200" algn="l"/>
              </a:tabLst>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Performance Evaluation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Calculates accuracy, precision, recall, and F1-score.</a:t>
            </a:r>
          </a:p>
          <a:p>
            <a:pPr marL="342900" indent="-342900" algn="just">
              <a:lnSpc>
                <a:spcPct val="150000"/>
              </a:lnSpc>
              <a:spcBef>
                <a:spcPts val="0"/>
              </a:spcBef>
              <a:spcAft>
                <a:spcPts val="800"/>
              </a:spcAft>
              <a:buFont typeface="+mj-lt"/>
              <a:buAutoNum type="arabicPeriod"/>
              <a:tabLst>
                <a:tab pos="457200" algn="l"/>
              </a:tabLst>
            </a:pPr>
            <a:r>
              <a:rPr lang="en-US" sz="1800" b="1" dirty="0">
                <a:latin typeface="Times New Roman" panose="02020603050405020304" pitchFamily="18" charset="0"/>
                <a:ea typeface="MS Mincho" panose="02020609040205080304" pitchFamily="49" charset="-128"/>
                <a:cs typeface="Times New Roman" panose="02020603050405020304" pitchFamily="18" charset="0"/>
              </a:rPr>
              <a:t>GUI Interface</a:t>
            </a:r>
            <a:r>
              <a:rPr lang="en-US" sz="1800" dirty="0">
                <a:latin typeface="Times New Roman" panose="02020603050405020304" pitchFamily="18" charset="0"/>
                <a:ea typeface="MS Mincho" panose="02020609040205080304" pitchFamily="49" charset="-128"/>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Provides an easy-to-use interface for user interaction.</a:t>
            </a:r>
          </a:p>
          <a:p>
            <a:pPr marL="342900" marR="0" lvl="0" indent="-342900" algn="just">
              <a:lnSpc>
                <a:spcPct val="150000"/>
              </a:lnSpc>
              <a:spcBef>
                <a:spcPts val="0"/>
              </a:spcBef>
              <a:spcAft>
                <a:spcPts val="800"/>
              </a:spcAft>
              <a:buFont typeface="+mj-lt"/>
              <a:buAutoNum type="arabicPeriod"/>
              <a:tabLst>
                <a:tab pos="457200" algn="l"/>
              </a:tabLst>
            </a:pP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51105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A74B-00E8-2B6A-C77E-393365891973}"/>
              </a:ext>
            </a:extLst>
          </p:cNvPr>
          <p:cNvSpPr>
            <a:spLocks noGrp="1"/>
          </p:cNvSpPr>
          <p:nvPr>
            <p:ph type="title"/>
          </p:nvPr>
        </p:nvSpPr>
        <p:spPr>
          <a:xfrm>
            <a:off x="838200" y="-87159"/>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D9422717-F75E-C764-14DB-E4991CABF81D}"/>
              </a:ext>
            </a:extLst>
          </p:cNvPr>
          <p:cNvSpPr>
            <a:spLocks noGrp="1"/>
          </p:cNvSpPr>
          <p:nvPr>
            <p:ph idx="1"/>
          </p:nvPr>
        </p:nvSpPr>
        <p:spPr>
          <a:xfrm>
            <a:off x="838200" y="1058708"/>
            <a:ext cx="10515600" cy="5332259"/>
          </a:xfrm>
        </p:spPr>
        <p:txBody>
          <a:bodyPr>
            <a:normAutofit fontScale="92500" lnSpcReduction="10000"/>
          </a:bodyPr>
          <a:lstStyle/>
          <a:p>
            <a:r>
              <a:rPr lang="en-US" sz="1800" b="1" dirty="0">
                <a:latin typeface="Times New Roman" panose="02020603050405020304" pitchFamily="18" charset="0"/>
                <a:cs typeface="Times New Roman" panose="02020603050405020304" pitchFamily="18" charset="0"/>
              </a:rPr>
              <a:t>MODEL BUILDING:</a:t>
            </a:r>
          </a:p>
          <a:p>
            <a:pPr marL="0" indent="0">
              <a:buNone/>
            </a:pPr>
            <a:r>
              <a:rPr lang="en-US" sz="1800" dirty="0">
                <a:latin typeface="Times New Roman" panose="02020603050405020304" pitchFamily="18" charset="0"/>
                <a:cs typeface="Times New Roman" panose="02020603050405020304" pitchFamily="18" charset="0"/>
              </a:rPr>
              <a:t>model = Sequential()</a:t>
            </a:r>
          </a:p>
          <a:p>
            <a:pPr marL="0" indent="0">
              <a:buNone/>
            </a:pPr>
            <a:r>
              <a:rPr lang="en-US" sz="1800" dirty="0" err="1">
                <a:latin typeface="Times New Roman" panose="02020603050405020304" pitchFamily="18" charset="0"/>
                <a:cs typeface="Times New Roman" panose="02020603050405020304" pitchFamily="18" charset="0"/>
              </a:rPr>
              <a:t>model.add</a:t>
            </a:r>
            <a:r>
              <a:rPr lang="en-US" sz="1800" dirty="0">
                <a:latin typeface="Times New Roman" panose="02020603050405020304" pitchFamily="18" charset="0"/>
                <a:cs typeface="Times New Roman" panose="02020603050405020304" pitchFamily="18" charset="0"/>
              </a:rPr>
              <a:t>(LSTM(32, </a:t>
            </a:r>
            <a:r>
              <a:rPr lang="en-US" sz="1800" dirty="0" err="1">
                <a:latin typeface="Times New Roman" panose="02020603050405020304" pitchFamily="18" charset="0"/>
                <a:cs typeface="Times New Roman" panose="02020603050405020304" pitchFamily="18" charset="0"/>
              </a:rPr>
              <a:t>input_shape</a:t>
            </a:r>
            <a:r>
              <a:rPr lang="en-US" sz="1800" dirty="0">
                <a:latin typeface="Times New Roman" panose="02020603050405020304" pitchFamily="18" charset="0"/>
                <a:cs typeface="Times New Roman" panose="02020603050405020304" pitchFamily="18" charset="0"/>
              </a:rPr>
              <a:t>=(80,50), </a:t>
            </a:r>
            <a:r>
              <a:rPr lang="en-US" sz="1800" dirty="0" err="1">
                <a:latin typeface="Times New Roman" panose="02020603050405020304" pitchFamily="18" charset="0"/>
                <a:cs typeface="Times New Roman" panose="02020603050405020304" pitchFamily="18" charset="0"/>
              </a:rPr>
              <a:t>return_sequences</a:t>
            </a:r>
            <a:r>
              <a:rPr lang="en-US" sz="1800" dirty="0">
                <a:latin typeface="Times New Roman" panose="02020603050405020304" pitchFamily="18" charset="0"/>
                <a:cs typeface="Times New Roman" panose="02020603050405020304" pitchFamily="18" charset="0"/>
              </a:rPr>
              <a:t>=True))</a:t>
            </a:r>
          </a:p>
          <a:p>
            <a:pPr marL="0" indent="0">
              <a:buNone/>
            </a:pPr>
            <a:r>
              <a:rPr lang="en-US" sz="1800" dirty="0" err="1">
                <a:latin typeface="Times New Roman" panose="02020603050405020304" pitchFamily="18" charset="0"/>
                <a:cs typeface="Times New Roman" panose="02020603050405020304" pitchFamily="18" charset="0"/>
              </a:rPr>
              <a:t>model.add</a:t>
            </a:r>
            <a:r>
              <a:rPr lang="en-US" sz="1800" dirty="0">
                <a:latin typeface="Times New Roman" panose="02020603050405020304" pitchFamily="18" charset="0"/>
                <a:cs typeface="Times New Roman" panose="02020603050405020304" pitchFamily="18" charset="0"/>
              </a:rPr>
              <a:t>(Dropout(0.5))</a:t>
            </a:r>
          </a:p>
          <a:p>
            <a:pPr marL="0" indent="0">
              <a:buNone/>
            </a:pPr>
            <a:r>
              <a:rPr lang="en-US" sz="1800" dirty="0" err="1">
                <a:latin typeface="Times New Roman" panose="02020603050405020304" pitchFamily="18" charset="0"/>
                <a:cs typeface="Times New Roman" panose="02020603050405020304" pitchFamily="18" charset="0"/>
              </a:rPr>
              <a:t>model.add</a:t>
            </a:r>
            <a:r>
              <a:rPr lang="en-US" sz="1800" dirty="0">
                <a:latin typeface="Times New Roman" panose="02020603050405020304" pitchFamily="18" charset="0"/>
                <a:cs typeface="Times New Roman" panose="02020603050405020304" pitchFamily="18" charset="0"/>
              </a:rPr>
              <a:t>(LSTM(16))</a:t>
            </a:r>
          </a:p>
          <a:p>
            <a:pPr marL="0" indent="0">
              <a:buNone/>
            </a:pPr>
            <a:r>
              <a:rPr lang="en-US" sz="1800" dirty="0" err="1">
                <a:latin typeface="Times New Roman" panose="02020603050405020304" pitchFamily="18" charset="0"/>
                <a:cs typeface="Times New Roman" panose="02020603050405020304" pitchFamily="18" charset="0"/>
              </a:rPr>
              <a:t>model.add</a:t>
            </a:r>
            <a:r>
              <a:rPr lang="en-US" sz="1800" dirty="0">
                <a:latin typeface="Times New Roman" panose="02020603050405020304" pitchFamily="18" charset="0"/>
                <a:cs typeface="Times New Roman" panose="02020603050405020304" pitchFamily="18" charset="0"/>
              </a:rPr>
              <a:t>(Dense(4, activation='</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err="1">
                <a:latin typeface="Times New Roman" panose="02020603050405020304" pitchFamily="18" charset="0"/>
                <a:cs typeface="Times New Roman" panose="02020603050405020304" pitchFamily="18" charset="0"/>
              </a:rPr>
              <a:t>model.compile</a:t>
            </a:r>
            <a:r>
              <a:rPr lang="en-US" sz="1800" dirty="0">
                <a:latin typeface="Times New Roman" panose="02020603050405020304" pitchFamily="18" charset="0"/>
                <a:cs typeface="Times New Roman" panose="02020603050405020304" pitchFamily="18" charset="0"/>
              </a:rPr>
              <a:t>(optimizer='</a:t>
            </a:r>
            <a:r>
              <a:rPr lang="en-US" sz="1800" dirty="0" err="1">
                <a:latin typeface="Times New Roman" panose="02020603050405020304" pitchFamily="18" charset="0"/>
                <a:cs typeface="Times New Roman" panose="02020603050405020304" pitchFamily="18" charset="0"/>
              </a:rPr>
              <a:t>adam</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loss='</a:t>
            </a:r>
            <a:r>
              <a:rPr lang="en-US" sz="1800" dirty="0" err="1">
                <a:latin typeface="Times New Roman" panose="02020603050405020304" pitchFamily="18" charset="0"/>
                <a:cs typeface="Times New Roman" panose="02020603050405020304" pitchFamily="18" charset="0"/>
              </a:rPr>
              <a:t>categorical_crossentropy</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metrics=['accuracy'])</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MODEL TRAINING:</a:t>
            </a:r>
          </a:p>
          <a:p>
            <a:pPr marL="0" indent="0">
              <a:buNone/>
            </a:pPr>
            <a:r>
              <a:rPr lang="en-US" sz="1800" dirty="0" err="1">
                <a:latin typeface="Times New Roman" panose="02020603050405020304" pitchFamily="18" charset="0"/>
                <a:cs typeface="Times New Roman" panose="02020603050405020304" pitchFamily="18" charset="0"/>
              </a:rPr>
              <a:t>model.fit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X_train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y_train</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epochs=30,</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batch_size</a:t>
            </a:r>
            <a:r>
              <a:rPr lang="en-US" sz="1800" dirty="0">
                <a:latin typeface="Times New Roman" panose="02020603050405020304" pitchFamily="18" charset="0"/>
                <a:cs typeface="Times New Roman" panose="02020603050405020304" pitchFamily="18" charset="0"/>
              </a:rPr>
              <a:t>=32,</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validation_data</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y_test</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0630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6192-F27E-739C-DA86-43A4C65738BB}"/>
              </a:ext>
            </a:extLst>
          </p:cNvPr>
          <p:cNvSpPr>
            <a:spLocks noGrp="1"/>
          </p:cNvSpPr>
          <p:nvPr>
            <p:ph type="title"/>
          </p:nvPr>
        </p:nvSpPr>
        <p:spPr/>
        <p:txBody>
          <a:bodyPr>
            <a:normAutofit/>
          </a:bodyPr>
          <a:lstStyle/>
          <a:p>
            <a:r>
              <a:rPr lang="en-US" sz="100" dirty="0"/>
              <a:t>.</a:t>
            </a:r>
            <a:br>
              <a:rPr lang="en-US" sz="100" dirty="0"/>
            </a:br>
            <a:endParaRPr lang="en-US" sz="100" dirty="0"/>
          </a:p>
        </p:txBody>
      </p:sp>
      <p:sp>
        <p:nvSpPr>
          <p:cNvPr id="3" name="Content Placeholder 2">
            <a:extLst>
              <a:ext uri="{FF2B5EF4-FFF2-40B4-BE49-F238E27FC236}">
                <a16:creationId xmlns:a16="http://schemas.microsoft.com/office/drawing/2014/main" id="{29CFF414-2EE2-26D4-5784-0B7A8238E84B}"/>
              </a:ext>
            </a:extLst>
          </p:cNvPr>
          <p:cNvSpPr>
            <a:spLocks noGrp="1"/>
          </p:cNvSpPr>
          <p:nvPr>
            <p:ph idx="1"/>
          </p:nvPr>
        </p:nvSpPr>
        <p:spPr>
          <a:xfrm>
            <a:off x="724638" y="699135"/>
            <a:ext cx="10515600" cy="6127750"/>
          </a:xfrm>
        </p:spPr>
        <p:txBody>
          <a:bodyPr>
            <a:normAutofit/>
          </a:bodyPr>
          <a:lstStyle/>
          <a:p>
            <a:r>
              <a:rPr lang="en-US" sz="1800" b="1" dirty="0">
                <a:latin typeface="Times New Roman" panose="02020603050405020304" pitchFamily="18" charset="0"/>
                <a:cs typeface="Times New Roman" panose="02020603050405020304" pitchFamily="18" charset="0"/>
              </a:rPr>
              <a:t>PREDICTION:</a:t>
            </a:r>
          </a:p>
          <a:p>
            <a:pPr marL="0" indent="0">
              <a:buNone/>
            </a:pPr>
            <a:r>
              <a:rPr lang="en-US" sz="1800" dirty="0">
                <a:latin typeface="Times New Roman" panose="02020603050405020304" pitchFamily="18" charset="0"/>
                <a:cs typeface="Times New Roman" panose="02020603050405020304" pitchFamily="18" charset="0"/>
              </a:rPr>
              <a:t>sequences = </a:t>
            </a:r>
            <a:r>
              <a:rPr lang="en-US" sz="1800" dirty="0" err="1">
                <a:latin typeface="Times New Roman" panose="02020603050405020304" pitchFamily="18" charset="0"/>
                <a:cs typeface="Times New Roman" panose="02020603050405020304" pitchFamily="18" charset="0"/>
              </a:rPr>
              <a:t>scaler.transform</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test_data</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sequences = </a:t>
            </a:r>
            <a:r>
              <a:rPr lang="en-US" sz="1800" dirty="0" err="1">
                <a:latin typeface="Times New Roman" panose="02020603050405020304" pitchFamily="18" charset="0"/>
                <a:cs typeface="Times New Roman" panose="02020603050405020304" pitchFamily="18" charset="0"/>
              </a:rPr>
              <a:t>np.reshape</a:t>
            </a:r>
            <a:r>
              <a:rPr lang="en-US" sz="1800" dirty="0">
                <a:latin typeface="Times New Roman" panose="02020603050405020304" pitchFamily="18" charset="0"/>
                <a:cs typeface="Times New Roman" panose="02020603050405020304" pitchFamily="18" charset="0"/>
              </a:rPr>
              <a:t>(sequences, (</a:t>
            </a:r>
            <a:r>
              <a:rPr lang="en-US" sz="1800" dirty="0" err="1">
                <a:latin typeface="Times New Roman" panose="02020603050405020304" pitchFamily="18" charset="0"/>
                <a:cs typeface="Times New Roman" panose="02020603050405020304" pitchFamily="18" charset="0"/>
              </a:rPr>
              <a:t>sequences.shape</a:t>
            </a:r>
            <a:r>
              <a:rPr lang="en-US" sz="1800" dirty="0">
                <a:latin typeface="Times New Roman" panose="02020603050405020304" pitchFamily="18" charset="0"/>
                <a:cs typeface="Times New Roman" panose="02020603050405020304" pitchFamily="18" charset="0"/>
              </a:rPr>
              <a:t>[0], 80, 50))</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prediction = </a:t>
            </a:r>
            <a:r>
              <a:rPr lang="en-US" sz="1800" dirty="0" err="1">
                <a:latin typeface="Times New Roman" panose="02020603050405020304" pitchFamily="18" charset="0"/>
                <a:cs typeface="Times New Roman" panose="02020603050405020304" pitchFamily="18" charset="0"/>
              </a:rPr>
              <a:t>model.predict</a:t>
            </a:r>
            <a:r>
              <a:rPr lang="en-US" sz="1800" dirty="0">
                <a:latin typeface="Times New Roman" panose="02020603050405020304" pitchFamily="18" charset="0"/>
                <a:cs typeface="Times New Roman" panose="02020603050405020304" pitchFamily="18" charset="0"/>
              </a:rPr>
              <a:t>(sequences)</a:t>
            </a:r>
          </a:p>
          <a:p>
            <a:pPr marL="0" indent="0">
              <a:buNone/>
            </a:pPr>
            <a:r>
              <a:rPr lang="en-US" sz="1800" dirty="0">
                <a:latin typeface="Times New Roman" panose="02020603050405020304" pitchFamily="18" charset="0"/>
                <a:cs typeface="Times New Roman" panose="02020603050405020304" pitchFamily="18" charset="0"/>
              </a:rPr>
              <a:t>result = </a:t>
            </a:r>
            <a:r>
              <a:rPr lang="en-US" sz="1800" dirty="0" err="1">
                <a:latin typeface="Times New Roman" panose="02020603050405020304" pitchFamily="18" charset="0"/>
                <a:cs typeface="Times New Roman" panose="02020603050405020304" pitchFamily="18" charset="0"/>
              </a:rPr>
              <a:t>np.argmax</a:t>
            </a:r>
            <a:r>
              <a:rPr lang="en-US" sz="1800" dirty="0">
                <a:latin typeface="Times New Roman" panose="02020603050405020304" pitchFamily="18" charset="0"/>
                <a:cs typeface="Times New Roman" panose="02020603050405020304" pitchFamily="18" charset="0"/>
              </a:rPr>
              <a:t>(prediction, axis=1)</a:t>
            </a:r>
          </a:p>
          <a:p>
            <a:pPr marL="0" indent="0">
              <a:buNone/>
            </a:pPr>
            <a:endParaRPr lang="en-US"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OUTPUT LOGIN : </a:t>
            </a:r>
          </a:p>
          <a:p>
            <a:pPr marL="0" indent="0">
              <a:buNone/>
            </a:pPr>
            <a:r>
              <a:rPr lang="en-US" sz="1800" dirty="0">
                <a:latin typeface="Times New Roman" panose="02020603050405020304" pitchFamily="18" charset="0"/>
                <a:cs typeface="Times New Roman" panose="02020603050405020304" pitchFamily="18" charset="0"/>
              </a:rPr>
              <a:t>labels = ['</a:t>
            </a:r>
            <a:r>
              <a:rPr lang="en-US" sz="1800" dirty="0" err="1">
                <a:latin typeface="Times New Roman" panose="02020603050405020304" pitchFamily="18" charset="0"/>
                <a:cs typeface="Times New Roman" panose="02020603050405020304" pitchFamily="18" charset="0"/>
              </a:rPr>
              <a:t>Globins</a:t>
            </a:r>
            <a:r>
              <a:rPr lang="en-US" sz="1800" dirty="0">
                <a:latin typeface="Times New Roman" panose="02020603050405020304" pitchFamily="18" charset="0"/>
                <a:cs typeface="Times New Roman" panose="02020603050405020304" pitchFamily="18" charset="0"/>
              </a:rPr>
              <a:t>','Serine </a:t>
            </a:r>
            <a:r>
              <a:rPr lang="en-US" sz="1800" dirty="0" err="1">
                <a:latin typeface="Times New Roman" panose="02020603050405020304" pitchFamily="18" charset="0"/>
                <a:cs typeface="Times New Roman" panose="02020603050405020304" pitchFamily="18" charset="0"/>
              </a:rPr>
              <a:t>Proteases','Immunoglobulin','TIM</a:t>
            </a:r>
            <a:r>
              <a:rPr lang="en-US" sz="1800" dirty="0">
                <a:latin typeface="Times New Roman" panose="02020603050405020304" pitchFamily="18" charset="0"/>
                <a:cs typeface="Times New Roman" panose="02020603050405020304" pitchFamily="18" charset="0"/>
              </a:rPr>
              <a:t> Barrel']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for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in result:</a:t>
            </a:r>
          </a:p>
          <a:p>
            <a:pPr marL="0" indent="0">
              <a:buNone/>
            </a:pPr>
            <a:r>
              <a:rPr lang="en-US" sz="1800" dirty="0">
                <a:latin typeface="Times New Roman" panose="02020603050405020304" pitchFamily="18" charset="0"/>
                <a:cs typeface="Times New Roman" panose="02020603050405020304" pitchFamily="18" charset="0"/>
              </a:rPr>
              <a:t>    print("Predicted Protein Family:", labels[</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6857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5B941-D918-A6E6-83D8-C25643F79A7B}"/>
              </a:ext>
            </a:extLst>
          </p:cNvPr>
          <p:cNvSpPr>
            <a:spLocks noGrp="1"/>
          </p:cNvSpPr>
          <p:nvPr>
            <p:ph type="title"/>
          </p:nvPr>
        </p:nvSpPr>
        <p:spPr>
          <a:xfrm>
            <a:off x="838200" y="-116656"/>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TEST CASES</a:t>
            </a:r>
          </a:p>
        </p:txBody>
      </p:sp>
      <p:sp>
        <p:nvSpPr>
          <p:cNvPr id="3" name="Content Placeholder 2">
            <a:extLst>
              <a:ext uri="{FF2B5EF4-FFF2-40B4-BE49-F238E27FC236}">
                <a16:creationId xmlns:a16="http://schemas.microsoft.com/office/drawing/2014/main" id="{EC67772D-6128-EAA5-652B-3D2B05A624E5}"/>
              </a:ext>
            </a:extLst>
          </p:cNvPr>
          <p:cNvSpPr>
            <a:spLocks noGrp="1"/>
          </p:cNvSpPr>
          <p:nvPr>
            <p:ph idx="1"/>
          </p:nvPr>
        </p:nvSpPr>
        <p:spPr>
          <a:xfrm>
            <a:off x="838200" y="1071255"/>
            <a:ext cx="10515600" cy="5536022"/>
          </a:xfrm>
        </p:spPr>
        <p:txBody>
          <a:bodyPr>
            <a:normAutofit/>
          </a:bodyPr>
          <a:lstStyle/>
          <a:p>
            <a:pPr>
              <a:lnSpc>
                <a:spcPct val="150000"/>
              </a:lnSpc>
            </a:pPr>
            <a:r>
              <a:rPr lang="en-US" sz="1800" b="1" dirty="0">
                <a:latin typeface="Times New Roman" panose="02020603050405020304" pitchFamily="18" charset="0"/>
                <a:cs typeface="Times New Roman" panose="02020603050405020304" pitchFamily="18" charset="0"/>
              </a:rPr>
              <a:t>Test Case 1: </a:t>
            </a:r>
            <a:r>
              <a:rPr lang="en-IN" sz="1800" b="1" dirty="0">
                <a:latin typeface="Times New Roman" panose="02020603050405020304" pitchFamily="18" charset="0"/>
                <a:cs typeface="Times New Roman" panose="02020603050405020304" pitchFamily="18" charset="0"/>
              </a:rPr>
              <a:t>Valid Protein Sequence Input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verifies whether the system correctly accepts valid protein sequence input. The system processes the sequence using the trained deep learning model and predicts the corresponding protein family accurately.</a:t>
            </a:r>
          </a:p>
          <a:p>
            <a:pPr>
              <a:lnSpc>
                <a:spcPct val="150000"/>
              </a:lnSpc>
            </a:pPr>
            <a:r>
              <a:rPr lang="en-US" sz="1800" b="1" dirty="0">
                <a:latin typeface="Times New Roman" panose="02020603050405020304" pitchFamily="18" charset="0"/>
                <a:cs typeface="Times New Roman" panose="02020603050405020304" pitchFamily="18" charset="0"/>
              </a:rPr>
              <a:t>Test Case 2: Invalid / Missing Input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checks how the system handles invalid or missing protein sequence data. If the input file is empty or incorrect, the system should display an appropriate error message and prevent prediction.</a:t>
            </a:r>
          </a:p>
          <a:p>
            <a:pPr>
              <a:lnSpc>
                <a:spcPct val="150000"/>
              </a:lnSpc>
            </a:pPr>
            <a:r>
              <a:rPr lang="en-US" sz="1800" b="1" dirty="0">
                <a:latin typeface="Times New Roman" panose="02020603050405020304" pitchFamily="18" charset="0"/>
                <a:cs typeface="Times New Roman" panose="02020603050405020304" pitchFamily="18" charset="0"/>
              </a:rPr>
              <a:t>Test Case 3: User Registration &amp; Dataset Loading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verifies whether user registration done or not and the dataset loads correctly into the system. The system should display the total number of protein sequences, features, and available protein families.</a:t>
            </a:r>
          </a:p>
          <a:p>
            <a:endParaRPr lang="en-US" dirty="0"/>
          </a:p>
        </p:txBody>
      </p:sp>
    </p:spTree>
    <p:extLst>
      <p:ext uri="{BB962C8B-B14F-4D97-AF65-F5344CB8AC3E}">
        <p14:creationId xmlns:p14="http://schemas.microsoft.com/office/powerpoint/2010/main" val="1731985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12AC7-20DE-7802-F5AB-15421760CBD2}"/>
              </a:ext>
            </a:extLst>
          </p:cNvPr>
          <p:cNvSpPr>
            <a:spLocks noGrp="1"/>
          </p:cNvSpPr>
          <p:nvPr>
            <p:ph type="title"/>
          </p:nvPr>
        </p:nvSpPr>
        <p:spPr/>
        <p:txBody>
          <a:bodyPr>
            <a:normAutofit/>
          </a:bodyPr>
          <a:lstStyle/>
          <a:p>
            <a:r>
              <a:rPr lang="en-US" sz="100" dirty="0"/>
              <a:t>.</a:t>
            </a:r>
            <a:br>
              <a:rPr lang="en-US" sz="100" dirty="0"/>
            </a:br>
            <a:endParaRPr lang="en-IN" sz="100" dirty="0"/>
          </a:p>
        </p:txBody>
      </p:sp>
      <p:sp>
        <p:nvSpPr>
          <p:cNvPr id="3" name="Content Placeholder 2">
            <a:extLst>
              <a:ext uri="{FF2B5EF4-FFF2-40B4-BE49-F238E27FC236}">
                <a16:creationId xmlns:a16="http://schemas.microsoft.com/office/drawing/2014/main" id="{EF60D5D8-15FA-5669-73E2-4A342717E96D}"/>
              </a:ext>
            </a:extLst>
          </p:cNvPr>
          <p:cNvSpPr>
            <a:spLocks noGrp="1"/>
          </p:cNvSpPr>
          <p:nvPr>
            <p:ph idx="1"/>
          </p:nvPr>
        </p:nvSpPr>
        <p:spPr>
          <a:xfrm>
            <a:off x="745286" y="488437"/>
            <a:ext cx="10515600" cy="6004437"/>
          </a:xfrm>
        </p:spPr>
        <p:txBody>
          <a:bodyPr>
            <a:normAutofit/>
          </a:bodyPr>
          <a:lstStyle/>
          <a:p>
            <a:pPr>
              <a:lnSpc>
                <a:spcPct val="150000"/>
              </a:lnSpc>
            </a:pPr>
            <a:r>
              <a:rPr lang="en-US" sz="1800" b="1" dirty="0">
                <a:latin typeface="Times New Roman" panose="02020603050405020304" pitchFamily="18" charset="0"/>
                <a:cs typeface="Times New Roman" panose="02020603050405020304" pitchFamily="18" charset="0"/>
              </a:rPr>
              <a:t>Test Case 4: User Login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ensures that registered users can log in using correct credentials. The system should authenticate the user and allow access to the dashboard. If credentials are incorrect, an error message should be shown.</a:t>
            </a:r>
          </a:p>
          <a:p>
            <a:pPr>
              <a:lnSpc>
                <a:spcPct val="150000"/>
              </a:lnSpc>
            </a:pPr>
            <a:r>
              <a:rPr lang="en-US" sz="1800" b="1" dirty="0">
                <a:latin typeface="Times New Roman" panose="02020603050405020304" pitchFamily="18" charset="0"/>
                <a:cs typeface="Times New Roman" panose="02020603050405020304" pitchFamily="18" charset="0"/>
              </a:rPr>
              <a:t>Test Case 5:</a:t>
            </a:r>
            <a:r>
              <a:rPr lang="en-IN" sz="1800" b="1" dirty="0">
                <a:latin typeface="Times New Roman" panose="02020603050405020304" pitchFamily="18" charset="0"/>
                <a:cs typeface="Times New Roman" panose="02020603050405020304" pitchFamily="18" charset="0"/>
              </a:rPr>
              <a:t> Model Training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checks whether the deep learning models (RNN, LSTM, GRU) train successfully using the dataset. The system should display accuracy and performance metrics after training.</a:t>
            </a:r>
          </a:p>
          <a:p>
            <a:pPr>
              <a:lnSpc>
                <a:spcPct val="150000"/>
              </a:lnSpc>
            </a:pPr>
            <a:r>
              <a:rPr lang="en-US" sz="1800" b="1" dirty="0">
                <a:latin typeface="Times New Roman" panose="02020603050405020304" pitchFamily="18" charset="0"/>
                <a:cs typeface="Times New Roman" panose="02020603050405020304" pitchFamily="18" charset="0"/>
              </a:rPr>
              <a:t>Test Case 6: System Performance (Multiple Inputs)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evaluates the system’s performance when multiple prediction requests are made. The system should handle all requests efficiently without delay, errors, or crashes</a:t>
            </a:r>
          </a:p>
          <a:p>
            <a:pPr>
              <a:lnSpc>
                <a:spcPct val="150000"/>
              </a:lnSpc>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Test Case 7: </a:t>
            </a:r>
            <a:r>
              <a:rPr lang="en-US" sz="1800" b="1" dirty="0">
                <a:latin typeface="Times New Roman" panose="02020603050405020304" pitchFamily="18" charset="0"/>
                <a:cs typeface="Times New Roman" panose="02020603050405020304" pitchFamily="18" charset="0"/>
              </a:rPr>
              <a:t>Prediction Output</a:t>
            </a:r>
            <a:b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test case verifies whether the trained model generates correct protein family predictions and displays the output properly in the user interface.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757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158C0-2E05-646B-8057-CBA977DDBE8B}"/>
              </a:ext>
            </a:extLst>
          </p:cNvPr>
          <p:cNvSpPr>
            <a:spLocks noGrp="1"/>
          </p:cNvSpPr>
          <p:nvPr>
            <p:ph type="title"/>
          </p:nvPr>
        </p:nvSpPr>
        <p:spPr>
          <a:xfrm>
            <a:off x="838199" y="-195443"/>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SCREENSHOTS/RESULT</a:t>
            </a:r>
          </a:p>
        </p:txBody>
      </p:sp>
      <p:sp>
        <p:nvSpPr>
          <p:cNvPr id="8" name="TextBox 7">
            <a:extLst>
              <a:ext uri="{FF2B5EF4-FFF2-40B4-BE49-F238E27FC236}">
                <a16:creationId xmlns:a16="http://schemas.microsoft.com/office/drawing/2014/main" id="{8BB47083-29C8-1822-4441-C38D95EA4A9B}"/>
              </a:ext>
            </a:extLst>
          </p:cNvPr>
          <p:cNvSpPr txBox="1"/>
          <p:nvPr/>
        </p:nvSpPr>
        <p:spPr>
          <a:xfrm>
            <a:off x="2605548" y="5995219"/>
            <a:ext cx="698090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No : 1 Home page </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3AFEE16-DC7D-D81F-31E5-9585FE0DFBAD}"/>
              </a:ext>
            </a:extLst>
          </p:cNvPr>
          <p:cNvPicPr>
            <a:picLocks noChangeAspect="1"/>
          </p:cNvPicPr>
          <p:nvPr/>
        </p:nvPicPr>
        <p:blipFill>
          <a:blip r:embed="rId2"/>
          <a:stretch>
            <a:fillRect/>
          </a:stretch>
        </p:blipFill>
        <p:spPr>
          <a:xfrm>
            <a:off x="2041056" y="777240"/>
            <a:ext cx="8306904" cy="5097508"/>
          </a:xfrm>
          <a:prstGeom prst="rect">
            <a:avLst/>
          </a:prstGeom>
        </p:spPr>
      </p:pic>
    </p:spTree>
    <p:extLst>
      <p:ext uri="{BB962C8B-B14F-4D97-AF65-F5344CB8AC3E}">
        <p14:creationId xmlns:p14="http://schemas.microsoft.com/office/powerpoint/2010/main" val="324745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F10B2-449A-1BC6-937F-3D77E3E89F94}"/>
              </a:ext>
            </a:extLst>
          </p:cNvPr>
          <p:cNvSpPr>
            <a:spLocks noGrp="1"/>
          </p:cNvSpPr>
          <p:nvPr>
            <p:ph type="title"/>
          </p:nvPr>
        </p:nvSpPr>
        <p:spPr/>
        <p:txBody>
          <a:bodyPr>
            <a:normAutofit/>
          </a:bodyPr>
          <a:lstStyle/>
          <a:p>
            <a:r>
              <a:rPr lang="en-US" sz="100" dirty="0"/>
              <a:t>.</a:t>
            </a:r>
            <a:br>
              <a:rPr lang="en-US" sz="100" dirty="0"/>
            </a:br>
            <a:endParaRPr lang="en-IN" sz="100" dirty="0"/>
          </a:p>
        </p:txBody>
      </p:sp>
      <p:pic>
        <p:nvPicPr>
          <p:cNvPr id="5" name="Content Placeholder 4">
            <a:extLst>
              <a:ext uri="{FF2B5EF4-FFF2-40B4-BE49-F238E27FC236}">
                <a16:creationId xmlns:a16="http://schemas.microsoft.com/office/drawing/2014/main" id="{3DA858F4-E397-CBFA-0782-A1BDF6D2C8C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26576" y="734245"/>
            <a:ext cx="7738848" cy="4351338"/>
          </a:xfrm>
        </p:spPr>
      </p:pic>
      <p:sp>
        <p:nvSpPr>
          <p:cNvPr id="6" name="TextBox 5">
            <a:extLst>
              <a:ext uri="{FF2B5EF4-FFF2-40B4-BE49-F238E27FC236}">
                <a16:creationId xmlns:a16="http://schemas.microsoft.com/office/drawing/2014/main" id="{88A4F0F7-674E-533C-2B79-116417E8B3B4}"/>
              </a:ext>
            </a:extLst>
          </p:cNvPr>
          <p:cNvSpPr txBox="1"/>
          <p:nvPr/>
        </p:nvSpPr>
        <p:spPr>
          <a:xfrm>
            <a:off x="2998839" y="5702710"/>
            <a:ext cx="587969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No : 2 Sign up page</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D1D1AA2-D363-1A5B-23A5-E7C6527B297F}"/>
              </a:ext>
            </a:extLst>
          </p:cNvPr>
          <p:cNvPicPr>
            <a:picLocks noChangeAspect="1"/>
          </p:cNvPicPr>
          <p:nvPr/>
        </p:nvPicPr>
        <p:blipFill>
          <a:blip r:embed="rId3"/>
          <a:stretch>
            <a:fillRect/>
          </a:stretch>
        </p:blipFill>
        <p:spPr>
          <a:xfrm>
            <a:off x="2058179" y="716857"/>
            <a:ext cx="8319481" cy="4677290"/>
          </a:xfrm>
          <a:prstGeom prst="rect">
            <a:avLst/>
          </a:prstGeom>
        </p:spPr>
      </p:pic>
    </p:spTree>
    <p:extLst>
      <p:ext uri="{BB962C8B-B14F-4D97-AF65-F5344CB8AC3E}">
        <p14:creationId xmlns:p14="http://schemas.microsoft.com/office/powerpoint/2010/main" val="3741429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9872F-2096-AD44-9671-050D50DFE3C5}"/>
              </a:ext>
            </a:extLst>
          </p:cNvPr>
          <p:cNvSpPr>
            <a:spLocks noGrp="1"/>
          </p:cNvSpPr>
          <p:nvPr>
            <p:ph type="title"/>
          </p:nvPr>
        </p:nvSpPr>
        <p:spPr/>
        <p:txBody>
          <a:bodyPr>
            <a:normAutofit/>
          </a:bodyPr>
          <a:lstStyle/>
          <a:p>
            <a:r>
              <a:rPr lang="en-US" sz="100" dirty="0"/>
              <a:t>.</a:t>
            </a:r>
            <a:br>
              <a:rPr lang="en-US" sz="100" dirty="0"/>
            </a:br>
            <a:endParaRPr lang="en-IN" sz="100" dirty="0"/>
          </a:p>
        </p:txBody>
      </p:sp>
      <p:pic>
        <p:nvPicPr>
          <p:cNvPr id="5" name="Content Placeholder 4">
            <a:extLst>
              <a:ext uri="{FF2B5EF4-FFF2-40B4-BE49-F238E27FC236}">
                <a16:creationId xmlns:a16="http://schemas.microsoft.com/office/drawing/2014/main" id="{EC12A812-FE0B-1A4B-085A-241B60DB27E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26576" y="840582"/>
            <a:ext cx="7738848" cy="4351338"/>
          </a:xfrm>
        </p:spPr>
      </p:pic>
      <p:sp>
        <p:nvSpPr>
          <p:cNvPr id="8" name="TextBox 7">
            <a:extLst>
              <a:ext uri="{FF2B5EF4-FFF2-40B4-BE49-F238E27FC236}">
                <a16:creationId xmlns:a16="http://schemas.microsoft.com/office/drawing/2014/main" id="{19E2D8E9-3987-BFE2-369D-E3AA6B004961}"/>
              </a:ext>
            </a:extLst>
          </p:cNvPr>
          <p:cNvSpPr txBox="1"/>
          <p:nvPr/>
        </p:nvSpPr>
        <p:spPr>
          <a:xfrm>
            <a:off x="3126659" y="5648086"/>
            <a:ext cx="6096000"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Fig No : 3 Dataset Loaded </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84185B4-7DB2-CA66-0497-04C2B392BCB6}"/>
              </a:ext>
            </a:extLst>
          </p:cNvPr>
          <p:cNvPicPr>
            <a:picLocks noChangeAspect="1"/>
          </p:cNvPicPr>
          <p:nvPr/>
        </p:nvPicPr>
        <p:blipFill>
          <a:blip r:embed="rId3"/>
          <a:stretch>
            <a:fillRect/>
          </a:stretch>
        </p:blipFill>
        <p:spPr>
          <a:xfrm>
            <a:off x="2042160" y="710614"/>
            <a:ext cx="8439358" cy="4745306"/>
          </a:xfrm>
          <a:prstGeom prst="rect">
            <a:avLst/>
          </a:prstGeom>
        </p:spPr>
      </p:pic>
    </p:spTree>
    <p:extLst>
      <p:ext uri="{BB962C8B-B14F-4D97-AF65-F5344CB8AC3E}">
        <p14:creationId xmlns:p14="http://schemas.microsoft.com/office/powerpoint/2010/main" val="199447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EC9D-8E84-B4E5-ECCE-AAD660040CC9}"/>
              </a:ext>
            </a:extLst>
          </p:cNvPr>
          <p:cNvSpPr>
            <a:spLocks noGrp="1"/>
          </p:cNvSpPr>
          <p:nvPr>
            <p:ph type="title"/>
          </p:nvPr>
        </p:nvSpPr>
        <p:spPr/>
        <p:txBody>
          <a:bodyPr>
            <a:normAutofit/>
          </a:bodyPr>
          <a:lstStyle/>
          <a:p>
            <a:r>
              <a:rPr lang="en-US" sz="100" dirty="0"/>
              <a:t>.</a:t>
            </a:r>
            <a:br>
              <a:rPr lang="en-US" sz="100" dirty="0"/>
            </a:br>
            <a:endParaRPr lang="en-IN" sz="100" dirty="0"/>
          </a:p>
        </p:txBody>
      </p:sp>
      <p:pic>
        <p:nvPicPr>
          <p:cNvPr id="5" name="Content Placeholder 4">
            <a:extLst>
              <a:ext uri="{FF2B5EF4-FFF2-40B4-BE49-F238E27FC236}">
                <a16:creationId xmlns:a16="http://schemas.microsoft.com/office/drawing/2014/main" id="{425737FE-714C-B2A9-5741-5DA085D7466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07075" y="771474"/>
            <a:ext cx="7741671" cy="4352925"/>
          </a:xfrm>
        </p:spPr>
      </p:pic>
      <p:sp>
        <p:nvSpPr>
          <p:cNvPr id="6" name="TextBox 5">
            <a:extLst>
              <a:ext uri="{FF2B5EF4-FFF2-40B4-BE49-F238E27FC236}">
                <a16:creationId xmlns:a16="http://schemas.microsoft.com/office/drawing/2014/main" id="{A663B332-03BC-562D-92B7-DBE1EAEAE3E5}"/>
              </a:ext>
            </a:extLst>
          </p:cNvPr>
          <p:cNvSpPr txBox="1"/>
          <p:nvPr/>
        </p:nvSpPr>
        <p:spPr>
          <a:xfrm>
            <a:off x="3146220" y="5717194"/>
            <a:ext cx="566338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No : 4 Training Records</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873D961-8751-CEBC-2544-B75371D409E5}"/>
              </a:ext>
            </a:extLst>
          </p:cNvPr>
          <p:cNvPicPr>
            <a:picLocks noChangeAspect="1"/>
          </p:cNvPicPr>
          <p:nvPr/>
        </p:nvPicPr>
        <p:blipFill>
          <a:blip r:embed="rId3"/>
          <a:stretch>
            <a:fillRect/>
          </a:stretch>
        </p:blipFill>
        <p:spPr>
          <a:xfrm>
            <a:off x="2016370" y="687398"/>
            <a:ext cx="8318155" cy="4677081"/>
          </a:xfrm>
          <a:prstGeom prst="rect">
            <a:avLst/>
          </a:prstGeom>
        </p:spPr>
      </p:pic>
    </p:spTree>
    <p:extLst>
      <p:ext uri="{BB962C8B-B14F-4D97-AF65-F5344CB8AC3E}">
        <p14:creationId xmlns:p14="http://schemas.microsoft.com/office/powerpoint/2010/main" val="1842683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EC9D-8E84-B4E5-ECCE-AAD660040CC9}"/>
              </a:ext>
            </a:extLst>
          </p:cNvPr>
          <p:cNvSpPr>
            <a:spLocks noGrp="1"/>
          </p:cNvSpPr>
          <p:nvPr>
            <p:ph type="title"/>
          </p:nvPr>
        </p:nvSpPr>
        <p:spPr/>
        <p:txBody>
          <a:bodyPr>
            <a:normAutofit/>
          </a:bodyPr>
          <a:lstStyle/>
          <a:p>
            <a:r>
              <a:rPr lang="en-US" sz="100" dirty="0"/>
              <a:t>.</a:t>
            </a:r>
            <a:br>
              <a:rPr lang="en-US" sz="100" dirty="0"/>
            </a:br>
            <a:endParaRPr lang="en-IN" sz="100" dirty="0"/>
          </a:p>
        </p:txBody>
      </p:sp>
      <p:pic>
        <p:nvPicPr>
          <p:cNvPr id="5" name="Content Placeholder 4">
            <a:extLst>
              <a:ext uri="{FF2B5EF4-FFF2-40B4-BE49-F238E27FC236}">
                <a16:creationId xmlns:a16="http://schemas.microsoft.com/office/drawing/2014/main" id="{425737FE-714C-B2A9-5741-5DA085D7466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07075" y="771474"/>
            <a:ext cx="7741671" cy="4352925"/>
          </a:xfrm>
        </p:spPr>
      </p:pic>
      <p:sp>
        <p:nvSpPr>
          <p:cNvPr id="6" name="TextBox 5">
            <a:extLst>
              <a:ext uri="{FF2B5EF4-FFF2-40B4-BE49-F238E27FC236}">
                <a16:creationId xmlns:a16="http://schemas.microsoft.com/office/drawing/2014/main" id="{A663B332-03BC-562D-92B7-DBE1EAEAE3E5}"/>
              </a:ext>
            </a:extLst>
          </p:cNvPr>
          <p:cNvSpPr txBox="1"/>
          <p:nvPr/>
        </p:nvSpPr>
        <p:spPr>
          <a:xfrm>
            <a:off x="3077497" y="5722374"/>
            <a:ext cx="527992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No : 5 Uploading </a:t>
            </a:r>
            <a:r>
              <a:rPr lang="en-US" dirty="0" err="1">
                <a:latin typeface="Times New Roman" panose="02020603050405020304" pitchFamily="18" charset="0"/>
                <a:cs typeface="Times New Roman" panose="02020603050405020304" pitchFamily="18" charset="0"/>
              </a:rPr>
              <a:t>TestSequence</a:t>
            </a:r>
            <a:r>
              <a:rPr lang="en-US" dirty="0">
                <a:latin typeface="Times New Roman" panose="02020603050405020304" pitchFamily="18" charset="0"/>
                <a:cs typeface="Times New Roman" panose="02020603050405020304" pitchFamily="18" charset="0"/>
              </a:rPr>
              <a:t> data</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AC4A0F7-A969-EB66-0938-508C78293DB0}"/>
              </a:ext>
            </a:extLst>
          </p:cNvPr>
          <p:cNvPicPr>
            <a:picLocks noChangeAspect="1"/>
          </p:cNvPicPr>
          <p:nvPr/>
        </p:nvPicPr>
        <p:blipFill>
          <a:blip r:embed="rId3"/>
          <a:stretch>
            <a:fillRect/>
          </a:stretch>
        </p:blipFill>
        <p:spPr>
          <a:xfrm>
            <a:off x="2107075" y="745613"/>
            <a:ext cx="7784508" cy="4378786"/>
          </a:xfrm>
          <a:prstGeom prst="rect">
            <a:avLst/>
          </a:prstGeom>
        </p:spPr>
      </p:pic>
      <p:pic>
        <p:nvPicPr>
          <p:cNvPr id="4" name="Picture 3">
            <a:extLst>
              <a:ext uri="{FF2B5EF4-FFF2-40B4-BE49-F238E27FC236}">
                <a16:creationId xmlns:a16="http://schemas.microsoft.com/office/drawing/2014/main" id="{E7009BF6-4795-AB10-C74C-5CF3D514A4EA}"/>
              </a:ext>
            </a:extLst>
          </p:cNvPr>
          <p:cNvPicPr>
            <a:picLocks noChangeAspect="1"/>
          </p:cNvPicPr>
          <p:nvPr/>
        </p:nvPicPr>
        <p:blipFill>
          <a:blip r:embed="rId4"/>
          <a:stretch>
            <a:fillRect/>
          </a:stretch>
        </p:blipFill>
        <p:spPr>
          <a:xfrm>
            <a:off x="2107075" y="745613"/>
            <a:ext cx="8362804" cy="4702109"/>
          </a:xfrm>
          <a:prstGeom prst="rect">
            <a:avLst/>
          </a:prstGeom>
        </p:spPr>
      </p:pic>
    </p:spTree>
    <p:extLst>
      <p:ext uri="{BB962C8B-B14F-4D97-AF65-F5344CB8AC3E}">
        <p14:creationId xmlns:p14="http://schemas.microsoft.com/office/powerpoint/2010/main" val="1156976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EC9D-8E84-B4E5-ECCE-AAD660040CC9}"/>
              </a:ext>
            </a:extLst>
          </p:cNvPr>
          <p:cNvSpPr>
            <a:spLocks noGrp="1"/>
          </p:cNvSpPr>
          <p:nvPr>
            <p:ph type="title"/>
          </p:nvPr>
        </p:nvSpPr>
        <p:spPr/>
        <p:txBody>
          <a:bodyPr>
            <a:normAutofit/>
          </a:bodyPr>
          <a:lstStyle/>
          <a:p>
            <a:r>
              <a:rPr lang="en-US" sz="100" dirty="0"/>
              <a:t>.</a:t>
            </a:r>
            <a:br>
              <a:rPr lang="en-US" sz="100" dirty="0"/>
            </a:br>
            <a:endParaRPr lang="en-IN" sz="100" dirty="0"/>
          </a:p>
        </p:txBody>
      </p:sp>
      <p:pic>
        <p:nvPicPr>
          <p:cNvPr id="5" name="Content Placeholder 4">
            <a:extLst>
              <a:ext uri="{FF2B5EF4-FFF2-40B4-BE49-F238E27FC236}">
                <a16:creationId xmlns:a16="http://schemas.microsoft.com/office/drawing/2014/main" id="{425737FE-714C-B2A9-5741-5DA085D7466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07075" y="771474"/>
            <a:ext cx="7741671" cy="4352925"/>
          </a:xfrm>
        </p:spPr>
      </p:pic>
      <p:sp>
        <p:nvSpPr>
          <p:cNvPr id="6" name="TextBox 5">
            <a:extLst>
              <a:ext uri="{FF2B5EF4-FFF2-40B4-BE49-F238E27FC236}">
                <a16:creationId xmlns:a16="http://schemas.microsoft.com/office/drawing/2014/main" id="{A663B332-03BC-562D-92B7-DBE1EAEAE3E5}"/>
              </a:ext>
            </a:extLst>
          </p:cNvPr>
          <p:cNvSpPr txBox="1"/>
          <p:nvPr/>
        </p:nvSpPr>
        <p:spPr>
          <a:xfrm>
            <a:off x="3337949" y="5624052"/>
            <a:ext cx="527992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No : 6 Predictions of  </a:t>
            </a:r>
            <a:r>
              <a:rPr lang="en-US" dirty="0" err="1">
                <a:latin typeface="Times New Roman" panose="02020603050405020304" pitchFamily="18" charset="0"/>
                <a:cs typeface="Times New Roman" panose="02020603050405020304" pitchFamily="18" charset="0"/>
              </a:rPr>
              <a:t>Protien</a:t>
            </a:r>
            <a:r>
              <a:rPr lang="en-US" dirty="0">
                <a:latin typeface="Times New Roman" panose="02020603050405020304" pitchFamily="18" charset="0"/>
                <a:cs typeface="Times New Roman" panose="02020603050405020304" pitchFamily="18" charset="0"/>
              </a:rPr>
              <a:t> Family</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AC4A0F7-A969-EB66-0938-508C78293DB0}"/>
              </a:ext>
            </a:extLst>
          </p:cNvPr>
          <p:cNvPicPr>
            <a:picLocks noChangeAspect="1"/>
          </p:cNvPicPr>
          <p:nvPr/>
        </p:nvPicPr>
        <p:blipFill>
          <a:blip r:embed="rId3"/>
          <a:stretch>
            <a:fillRect/>
          </a:stretch>
        </p:blipFill>
        <p:spPr>
          <a:xfrm>
            <a:off x="2107075" y="745613"/>
            <a:ext cx="7784508" cy="4378786"/>
          </a:xfrm>
          <a:prstGeom prst="rect">
            <a:avLst/>
          </a:prstGeom>
        </p:spPr>
      </p:pic>
      <p:pic>
        <p:nvPicPr>
          <p:cNvPr id="4" name="Picture 3">
            <a:extLst>
              <a:ext uri="{FF2B5EF4-FFF2-40B4-BE49-F238E27FC236}">
                <a16:creationId xmlns:a16="http://schemas.microsoft.com/office/drawing/2014/main" id="{5505E323-8403-8BE6-262D-EBEFCB528AFF}"/>
              </a:ext>
            </a:extLst>
          </p:cNvPr>
          <p:cNvPicPr>
            <a:picLocks noChangeAspect="1"/>
          </p:cNvPicPr>
          <p:nvPr/>
        </p:nvPicPr>
        <p:blipFill>
          <a:blip r:embed="rId4"/>
          <a:stretch>
            <a:fillRect/>
          </a:stretch>
        </p:blipFill>
        <p:spPr>
          <a:xfrm>
            <a:off x="2107074" y="745612"/>
            <a:ext cx="7784507" cy="4378785"/>
          </a:xfrm>
          <a:prstGeom prst="rect">
            <a:avLst/>
          </a:prstGeom>
        </p:spPr>
      </p:pic>
      <p:pic>
        <p:nvPicPr>
          <p:cNvPr id="7" name="Picture 6">
            <a:extLst>
              <a:ext uri="{FF2B5EF4-FFF2-40B4-BE49-F238E27FC236}">
                <a16:creationId xmlns:a16="http://schemas.microsoft.com/office/drawing/2014/main" id="{88E2B01C-F161-54DD-4285-BABB0F3DAC1B}"/>
              </a:ext>
            </a:extLst>
          </p:cNvPr>
          <p:cNvPicPr>
            <a:picLocks noChangeAspect="1"/>
          </p:cNvPicPr>
          <p:nvPr/>
        </p:nvPicPr>
        <p:blipFill>
          <a:blip r:embed="rId5"/>
          <a:stretch>
            <a:fillRect/>
          </a:stretch>
        </p:blipFill>
        <p:spPr>
          <a:xfrm>
            <a:off x="2107073" y="745613"/>
            <a:ext cx="8184127" cy="4601566"/>
          </a:xfrm>
          <a:prstGeom prst="rect">
            <a:avLst/>
          </a:prstGeom>
        </p:spPr>
      </p:pic>
    </p:spTree>
    <p:extLst>
      <p:ext uri="{BB962C8B-B14F-4D97-AF65-F5344CB8AC3E}">
        <p14:creationId xmlns:p14="http://schemas.microsoft.com/office/powerpoint/2010/main" val="3702523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23E1-3040-0D19-3454-F8D596DC566F}"/>
              </a:ext>
            </a:extLst>
          </p:cNvPr>
          <p:cNvSpPr>
            <a:spLocks noGrp="1"/>
          </p:cNvSpPr>
          <p:nvPr>
            <p:ph type="title"/>
          </p:nvPr>
        </p:nvSpPr>
        <p:spPr>
          <a:xfrm>
            <a:off x="838200" y="0"/>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B12B4BA-3EE0-86BE-5CE4-267758847FBD}"/>
              </a:ext>
            </a:extLst>
          </p:cNvPr>
          <p:cNvSpPr>
            <a:spLocks noGrp="1"/>
          </p:cNvSpPr>
          <p:nvPr>
            <p:ph idx="1"/>
          </p:nvPr>
        </p:nvSpPr>
        <p:spPr>
          <a:xfrm>
            <a:off x="838200" y="1061884"/>
            <a:ext cx="10515600" cy="4929546"/>
          </a:xfrm>
        </p:spPr>
        <p:txBody>
          <a:bodyPr>
            <a:noAutofit/>
          </a:bodyPr>
          <a:lstStyle/>
          <a:p>
            <a:pPr marL="0" marR="0"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This project presented an effective deep learning-based system for automatic protein family classification using biological sequence data. The proposed approach improves accuracy and reduces manual effort in bioinformatics analysis.</a:t>
            </a:r>
          </a:p>
          <a:p>
            <a:pPr marL="0" marR="0"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Deep learning models such as RNN, LSTM, and GRU were implemented to capture sequential patterns in protein sequences, enabling efficient classification of protein families.</a:t>
            </a:r>
          </a:p>
          <a:p>
            <a:pPr marL="0" marR="0"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Performance evaluation using accuracy, precision, recall, and F1-score demonstrated that deep learning techniques provide reliable and scalable solutions for protein classification.</a:t>
            </a:r>
          </a:p>
          <a:p>
            <a:pPr marL="0" marR="0" algn="just">
              <a:lnSpc>
                <a:spcPct val="150000"/>
              </a:lnSpc>
              <a:spcBef>
                <a:spcPts val="0"/>
              </a:spcBef>
              <a:spcAft>
                <a:spcPts val="1000"/>
              </a:spcAft>
            </a:pPr>
            <a:r>
              <a:rPr lang="en-US" sz="1800" dirty="0">
                <a:latin typeface="Times New Roman" panose="02020603050405020304" pitchFamily="18" charset="0"/>
                <a:cs typeface="Times New Roman" panose="02020603050405020304" pitchFamily="18" charset="0"/>
              </a:rPr>
              <a:t>The developed system can support bioinformatics research, protein function analysis, drug discovery, and large-scale biological data processing.</a:t>
            </a:r>
          </a:p>
        </p:txBody>
      </p:sp>
    </p:spTree>
    <p:extLst>
      <p:ext uri="{BB962C8B-B14F-4D97-AF65-F5344CB8AC3E}">
        <p14:creationId xmlns:p14="http://schemas.microsoft.com/office/powerpoint/2010/main" val="2238390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1B828-5B9A-022A-3E89-A486FAFE393F}"/>
              </a:ext>
            </a:extLst>
          </p:cNvPr>
          <p:cNvSpPr>
            <a:spLocks noGrp="1"/>
          </p:cNvSpPr>
          <p:nvPr>
            <p:ph type="title"/>
          </p:nvPr>
        </p:nvSpPr>
        <p:spPr>
          <a:xfrm>
            <a:off x="838200" y="0"/>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CCCCAF72-4BF2-54C4-D8AC-8504BCB789B2}"/>
              </a:ext>
            </a:extLst>
          </p:cNvPr>
          <p:cNvSpPr>
            <a:spLocks noGrp="1"/>
          </p:cNvSpPr>
          <p:nvPr>
            <p:ph idx="1"/>
          </p:nvPr>
        </p:nvSpPr>
        <p:spPr>
          <a:xfrm>
            <a:off x="838200" y="1253331"/>
            <a:ext cx="10515600" cy="4351338"/>
          </a:xfrm>
        </p:spPr>
        <p:txBody>
          <a:bodyPr>
            <a:normAutofit/>
          </a:bodyPr>
          <a:lstStyle/>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55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E1A6DB2C-6F67-25A5-620C-87A8D9673294}"/>
              </a:ext>
            </a:extLst>
          </p:cNvPr>
          <p:cNvSpPr>
            <a:spLocks noChangeArrowheads="1"/>
          </p:cNvSpPr>
          <p:nvPr/>
        </p:nvSpPr>
        <p:spPr bwMode="auto">
          <a:xfrm>
            <a:off x="838200" y="1253331"/>
            <a:ext cx="10515600"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Future Enhancements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enhanced by integrating advanced deep learning models such as CNN, Transformer, and attention mechanisms to improve protein classification accuracy and capture complex biological patterns.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work may include training the model using larger and more diverse protein datasets along with transfer learning techniques to improve generalization and prediction performance.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extended by incorporating protein structural information, functional annotations, and automated feature extraction methods for better classification results.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real-time web-based interface with visualization tools and explainable AI techniques can be developed to make the system more accessible and useful for bioinformatics research.</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0900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9903" y="136737"/>
            <a:ext cx="9905998" cy="1478570"/>
          </a:xfrm>
        </p:spPr>
        <p:txBody>
          <a:bodyPr/>
          <a:lstStyle/>
          <a:p>
            <a:r>
              <a:rPr lang="en-IN" dirty="0"/>
              <a:t>                         </a:t>
            </a:r>
            <a:r>
              <a:rPr lang="en-IN" b="1" dirty="0"/>
              <a:t> </a:t>
            </a:r>
            <a:r>
              <a:rPr lang="en-IN" sz="2800" b="1" dirty="0">
                <a:latin typeface="Times New Roman" panose="02020603050405020304" pitchFamily="18" charset="0"/>
                <a:cs typeface="Times New Roman" panose="02020603050405020304" pitchFamily="18" charset="0"/>
              </a:rPr>
              <a:t>REFERENCES</a:t>
            </a:r>
            <a:r>
              <a:rPr lang="en-IN" b="1" dirty="0"/>
              <a:t> </a:t>
            </a:r>
          </a:p>
        </p:txBody>
      </p:sp>
      <p:sp>
        <p:nvSpPr>
          <p:cNvPr id="3" name="Content Placeholder 2"/>
          <p:cNvSpPr>
            <a:spLocks noGrp="1"/>
          </p:cNvSpPr>
          <p:nvPr>
            <p:ph idx="1"/>
          </p:nvPr>
        </p:nvSpPr>
        <p:spPr>
          <a:xfrm>
            <a:off x="1056099" y="1376517"/>
            <a:ext cx="10070840" cy="5152102"/>
          </a:xfrm>
        </p:spPr>
        <p:txBody>
          <a:bodyPr>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[1] </a:t>
            </a:r>
            <a:r>
              <a:rPr lang="en-IN" sz="1800" dirty="0" err="1">
                <a:latin typeface="Times New Roman" panose="02020603050405020304" pitchFamily="18" charset="0"/>
                <a:cs typeface="Times New Roman" panose="02020603050405020304" pitchFamily="18" charset="0"/>
              </a:rPr>
              <a:t>Vazhayil</a:t>
            </a:r>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Vinayakumar</a:t>
            </a:r>
            <a:r>
              <a:rPr lang="en-IN" sz="1800" dirty="0">
                <a:latin typeface="Times New Roman" panose="02020603050405020304" pitchFamily="18" charset="0"/>
                <a:cs typeface="Times New Roman" panose="02020603050405020304" pitchFamily="18" charset="0"/>
              </a:rPr>
              <a:t>, R., &amp; K. P. Soman (2018). </a:t>
            </a:r>
            <a:r>
              <a:rPr lang="en-IN" sz="1800" i="1" dirty="0" err="1">
                <a:latin typeface="Times New Roman" panose="02020603050405020304" pitchFamily="18" charset="0"/>
                <a:cs typeface="Times New Roman" panose="02020603050405020304" pitchFamily="18" charset="0"/>
              </a:rPr>
              <a:t>DeepProteomics</a:t>
            </a:r>
            <a:r>
              <a:rPr lang="en-IN" sz="1800" i="1" dirty="0">
                <a:latin typeface="Times New Roman" panose="02020603050405020304" pitchFamily="18" charset="0"/>
                <a:cs typeface="Times New Roman" panose="02020603050405020304" pitchFamily="18" charset="0"/>
              </a:rPr>
              <a:t>: Protein family classification using shallow and deep networks.</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arXiv</a:t>
            </a:r>
            <a:r>
              <a:rPr lang="en-IN" sz="1800" dirty="0">
                <a:latin typeface="Times New Roman" panose="02020603050405020304" pitchFamily="18" charset="0"/>
                <a:cs typeface="Times New Roman" panose="02020603050405020304" pitchFamily="18" charset="0"/>
              </a:rPr>
              <a:t>.</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[2] Mohammed </a:t>
            </a:r>
            <a:r>
              <a:rPr lang="en-IN" sz="1800" dirty="0" err="1">
                <a:latin typeface="Times New Roman" panose="02020603050405020304" pitchFamily="18" charset="0"/>
                <a:cs typeface="Times New Roman" panose="02020603050405020304" pitchFamily="18" charset="0"/>
              </a:rPr>
              <a:t>AlQuraishi</a:t>
            </a:r>
            <a:r>
              <a:rPr lang="en-IN" sz="1800" dirty="0">
                <a:latin typeface="Times New Roman" panose="02020603050405020304" pitchFamily="18" charset="0"/>
                <a:cs typeface="Times New Roman" panose="02020603050405020304" pitchFamily="18" charset="0"/>
              </a:rPr>
              <a:t> et al. (2020). </a:t>
            </a:r>
            <a:r>
              <a:rPr lang="en-IN" sz="1800" i="1" dirty="0" err="1">
                <a:latin typeface="Times New Roman" panose="02020603050405020304" pitchFamily="18" charset="0"/>
                <a:cs typeface="Times New Roman" panose="02020603050405020304" pitchFamily="18" charset="0"/>
              </a:rPr>
              <a:t>SideChainNet</a:t>
            </a:r>
            <a:r>
              <a:rPr lang="en-IN" sz="1800" i="1" dirty="0">
                <a:latin typeface="Times New Roman" panose="02020603050405020304" pitchFamily="18" charset="0"/>
                <a:cs typeface="Times New Roman" panose="02020603050405020304" pitchFamily="18" charset="0"/>
              </a:rPr>
              <a:t>: An all-atom protein structure dataset.</a:t>
            </a:r>
            <a:r>
              <a:rPr lang="en-IN" sz="1800" dirty="0">
                <a:latin typeface="Times New Roman" panose="02020603050405020304" pitchFamily="18" charset="0"/>
                <a:cs typeface="Times New Roman" panose="02020603050405020304" pitchFamily="18" charset="0"/>
              </a:rPr>
              <a:t> MLSB.</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[3] D. Sandaruwan &amp; C. T. </a:t>
            </a:r>
            <a:r>
              <a:rPr lang="en-US" sz="1800" dirty="0" err="1">
                <a:latin typeface="Times New Roman" panose="02020603050405020304" pitchFamily="18" charset="0"/>
                <a:cs typeface="Times New Roman" panose="02020603050405020304" pitchFamily="18" charset="0"/>
              </a:rPr>
              <a:t>Wannige</a:t>
            </a:r>
            <a:r>
              <a:rPr lang="en-US" sz="1800" dirty="0">
                <a:latin typeface="Times New Roman" panose="02020603050405020304" pitchFamily="18" charset="0"/>
                <a:cs typeface="Times New Roman" panose="02020603050405020304" pitchFamily="18" charset="0"/>
              </a:rPr>
              <a:t> (2021). </a:t>
            </a:r>
            <a:r>
              <a:rPr lang="en-US" sz="1800" i="1" dirty="0">
                <a:latin typeface="Times New Roman" panose="02020603050405020304" pitchFamily="18" charset="0"/>
                <a:cs typeface="Times New Roman" panose="02020603050405020304" pitchFamily="18" charset="0"/>
              </a:rPr>
              <a:t>An improved deep learning model for hierarchical classification of protein families.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PLoS</a:t>
            </a:r>
            <a:r>
              <a:rPr lang="en-US" sz="1800" dirty="0">
                <a:latin typeface="Times New Roman" panose="02020603050405020304" pitchFamily="18" charset="0"/>
                <a:cs typeface="Times New Roman" panose="02020603050405020304" pitchFamily="18" charset="0"/>
              </a:rPr>
              <a:t> ONE.</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[4] </a:t>
            </a:r>
            <a:r>
              <a:rPr lang="en-US" sz="1800" i="1" dirty="0">
                <a:latin typeface="Times New Roman" panose="02020603050405020304" pitchFamily="18" charset="0"/>
                <a:cs typeface="Times New Roman" panose="02020603050405020304" pitchFamily="18" charset="0"/>
              </a:rPr>
              <a:t>Investigation of protein family relationships with deep learning.</a:t>
            </a:r>
            <a:r>
              <a:rPr lang="en-US" sz="1800" dirty="0">
                <a:latin typeface="Times New Roman" panose="02020603050405020304" pitchFamily="18" charset="0"/>
                <a:cs typeface="Times New Roman" panose="02020603050405020304" pitchFamily="18" charset="0"/>
              </a:rPr>
              <a:t> (2023). Bioinformatics Advances.</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[5] B. Ali et al. (2024). </a:t>
            </a:r>
            <a:r>
              <a:rPr lang="en-IN" sz="1800" i="1" dirty="0">
                <a:latin typeface="Times New Roman" panose="02020603050405020304" pitchFamily="18" charset="0"/>
                <a:cs typeface="Times New Roman" panose="02020603050405020304" pitchFamily="18" charset="0"/>
              </a:rPr>
              <a:t>Attention-based CNN-</a:t>
            </a:r>
            <a:r>
              <a:rPr lang="en-IN" sz="1800" i="1" dirty="0" err="1">
                <a:latin typeface="Times New Roman" panose="02020603050405020304" pitchFamily="18" charset="0"/>
                <a:cs typeface="Times New Roman" panose="02020603050405020304" pitchFamily="18" charset="0"/>
              </a:rPr>
              <a:t>BiLSTM</a:t>
            </a:r>
            <a:r>
              <a:rPr lang="en-IN" sz="1800" i="1" dirty="0">
                <a:latin typeface="Times New Roman" panose="02020603050405020304" pitchFamily="18" charset="0"/>
                <a:cs typeface="Times New Roman" panose="02020603050405020304" pitchFamily="18" charset="0"/>
              </a:rPr>
              <a:t> for protein family classification (ProFamNet).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arXiv</a:t>
            </a:r>
            <a:r>
              <a:rPr lang="en-IN" sz="18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[6] R. Zulfiqar et al. (2025). </a:t>
            </a:r>
            <a:r>
              <a:rPr lang="en-US" sz="1800" i="1" dirty="0">
                <a:latin typeface="Times New Roman" panose="02020603050405020304" pitchFamily="18" charset="0"/>
                <a:cs typeface="Times New Roman" panose="02020603050405020304" pitchFamily="18" charset="0"/>
              </a:rPr>
              <a:t>A review on amino acid-based protein classification using supervised AI models.</a:t>
            </a:r>
            <a:r>
              <a:rPr lang="en-US" sz="1800" dirty="0">
                <a:latin typeface="Times New Roman" panose="02020603050405020304" pitchFamily="18" charset="0"/>
                <a:cs typeface="Times New Roman" panose="02020603050405020304" pitchFamily="18" charset="0"/>
              </a:rPr>
              <a:t> Springer.</a:t>
            </a:r>
            <a:endParaRPr lang="en-IN" sz="18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TotalTime>
  <Words>2233</Words>
  <Application>Microsoft Office PowerPoint</Application>
  <PresentationFormat>Widescreen</PresentationFormat>
  <Paragraphs>195</Paragraphs>
  <Slides>26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Arial Black</vt:lpstr>
      <vt:lpstr>Calibri</vt:lpstr>
      <vt:lpstr>Calibri Light</vt:lpstr>
      <vt:lpstr>Cambria</vt:lpstr>
      <vt:lpstr>Times New Roman</vt:lpstr>
      <vt:lpstr>Office Theme</vt:lpstr>
      <vt:lpstr>PowerPoint Presentation</vt:lpstr>
      <vt:lpstr>Protein Family Classification using Deep Learning Techniques</vt:lpstr>
      <vt:lpstr>                           CONTENTS </vt:lpstr>
      <vt:lpstr>                         ABSTRACT</vt:lpstr>
      <vt:lpstr>                         INTRODUCTION</vt:lpstr>
      <vt:lpstr>                        LITERATURE SURVEY</vt:lpstr>
      <vt:lpstr>PROBLEM STATEMENT/OBJECTIVE</vt:lpstr>
      <vt:lpstr>                     EXISTING SYSTEM </vt:lpstr>
      <vt:lpstr>                     PROPOSED SYSTEM</vt:lpstr>
      <vt:lpstr>FEASABILITY STUDY</vt:lpstr>
      <vt:lpstr>HARDWARE REQUIREMENTS AND SOFTWARE REQUIREMENTS</vt:lpstr>
      <vt:lpstr>SYSTEM ARCHITECTURE/DESIGN </vt:lpstr>
      <vt:lpstr>MODULES USED</vt:lpstr>
      <vt:lpstr>IMPLEMENTATION</vt:lpstr>
      <vt:lpstr>. </vt:lpstr>
      <vt:lpstr>TEST CASES</vt:lpstr>
      <vt:lpstr>. </vt:lpstr>
      <vt:lpstr>SCREENSHOTS/RESULT</vt:lpstr>
      <vt:lpstr>. </vt:lpstr>
      <vt:lpstr>. </vt:lpstr>
      <vt:lpstr>. </vt:lpstr>
      <vt:lpstr>. </vt:lpstr>
      <vt:lpstr>. </vt:lpstr>
      <vt:lpstr>CONCLUSION</vt:lpstr>
      <vt:lpstr>FUTURE ENHANCEMENTS</vt:lpstr>
      <vt:lpstr>                          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CSE-DS</dc:title>
  <dc:creator>Niveditha Kulkarni</dc:creator>
  <cp:lastModifiedBy>Rangaraj Deepika</cp:lastModifiedBy>
  <cp:revision>56</cp:revision>
  <dcterms:created xsi:type="dcterms:W3CDTF">2024-11-15T14:07:00Z</dcterms:created>
  <dcterms:modified xsi:type="dcterms:W3CDTF">2026-04-07T17:34:01Z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0F8E50D6A29345C2B9572EDED6B81117_13</vt:lpwstr>
  </property>
  <property fmtid="{D5CDD505-2E9C-101B-9397-08002B2CF9AE}" pid="3" name="KSOProductBuildVer">
    <vt:lpwstr>1033-12.2.0.20795</vt:lpwstr>
  </property>
</Properties>
</file>